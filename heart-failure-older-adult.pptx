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9f9de0cf3f460f" /><Relationship Type="http://schemas.openxmlformats.org/officeDocument/2006/relationships/extended-properties" Target="/docProps/app.xml" Id="Rfb9201860d4a4c26" /><Relationship Type="http://schemas.openxmlformats.org/officeDocument/2006/relationships/officeDocument" Target="/ppt/presentation.xml" Id="R2c9174fd9e2b4e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7588b87ad2499e"/>
  </p:sldMasterIdLst>
  <p:notesMasterIdLst>
    <p:notesMasterId xmlns:r="http://schemas.openxmlformats.org/officeDocument/2006/relationships" r:id="R34df4f168a924198"/>
  </p:notesMasterIdLst>
  <p:sldIdLst>
    <p:sldId xmlns:r="http://schemas.openxmlformats.org/officeDocument/2006/relationships" id="256" r:id="Ra90ab317b08046fa"/>
    <p:sldId xmlns:r="http://schemas.openxmlformats.org/officeDocument/2006/relationships" id="257" r:id="R61a0c9a6dcd64f5d"/>
    <p:sldId xmlns:r="http://schemas.openxmlformats.org/officeDocument/2006/relationships" id="258" r:id="Rea81256af73b49b9"/>
    <p:sldId xmlns:r="http://schemas.openxmlformats.org/officeDocument/2006/relationships" id="259" r:id="R1ea6f51540ad4cfc"/>
    <p:sldId xmlns:r="http://schemas.openxmlformats.org/officeDocument/2006/relationships" id="260" r:id="Rd9fdc2a2be3542b3"/>
    <p:sldId xmlns:r="http://schemas.openxmlformats.org/officeDocument/2006/relationships" id="261" r:id="Rdd4ed2b878ec4ada"/>
    <p:sldId xmlns:r="http://schemas.openxmlformats.org/officeDocument/2006/relationships" id="262" r:id="R124bf90593704f66"/>
    <p:sldId xmlns:r="http://schemas.openxmlformats.org/officeDocument/2006/relationships" id="263" r:id="Rc4fc0e4c9ddb4135"/>
    <p:sldId xmlns:r="http://schemas.openxmlformats.org/officeDocument/2006/relationships" id="264" r:id="Rdfb6c3055654475f"/>
    <p:sldId xmlns:r="http://schemas.openxmlformats.org/officeDocument/2006/relationships" id="265" r:id="R2cd89cefef1f4c2c"/>
    <p:sldId xmlns:r="http://schemas.openxmlformats.org/officeDocument/2006/relationships" id="266" r:id="Ra5de500cad2540df"/>
    <p:sldId xmlns:r="http://schemas.openxmlformats.org/officeDocument/2006/relationships" id="267" r:id="R176dc46e521449d9"/>
    <p:sldId xmlns:r="http://schemas.openxmlformats.org/officeDocument/2006/relationships" id="268" r:id="Rbdf9081d8dc144a3"/>
    <p:sldId xmlns:r="http://schemas.openxmlformats.org/officeDocument/2006/relationships" id="269" r:id="R562e1862ec6f4a76"/>
    <p:sldId xmlns:r="http://schemas.openxmlformats.org/officeDocument/2006/relationships" id="270" r:id="R8b1ae3a7b5734f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9fa366da2f48d5" /><Relationship Type="http://schemas.openxmlformats.org/officeDocument/2006/relationships/slideMaster" Target="/ppt/slideMasters/slideMaster1.xml" Id="R5e7588b87ad2499e" /><Relationship Type="http://schemas.openxmlformats.org/officeDocument/2006/relationships/notesMaster" Target="/ppt/notesMasters/notesMaster1.xml" Id="R34df4f168a924198" /><Relationship Type="http://schemas.openxmlformats.org/officeDocument/2006/relationships/presProps" Target="/ppt/presProps.xml" Id="R211b88db41ca437e" /><Relationship Type="http://schemas.openxmlformats.org/officeDocument/2006/relationships/tableStyles" Target="/ppt/tableStyles.xml" Id="Re4983930427d4d83" /><Relationship Type="http://schemas.openxmlformats.org/officeDocument/2006/relationships/slide" Target="/ppt/slides/slide1.xml" Id="Ra90ab317b08046fa" /><Relationship Type="http://schemas.openxmlformats.org/officeDocument/2006/relationships/slide" Target="/ppt/slides/slide2.xml" Id="R61a0c9a6dcd64f5d" /><Relationship Type="http://schemas.openxmlformats.org/officeDocument/2006/relationships/slide" Target="/ppt/slides/slide3.xml" Id="Rea81256af73b49b9" /><Relationship Type="http://schemas.openxmlformats.org/officeDocument/2006/relationships/slide" Target="/ppt/slides/slide4.xml" Id="R1ea6f51540ad4cfc" /><Relationship Type="http://schemas.openxmlformats.org/officeDocument/2006/relationships/slide" Target="/ppt/slides/slide5.xml" Id="Rd9fdc2a2be3542b3" /><Relationship Type="http://schemas.openxmlformats.org/officeDocument/2006/relationships/slide" Target="/ppt/slides/slide6.xml" Id="Rdd4ed2b878ec4ada" /><Relationship Type="http://schemas.openxmlformats.org/officeDocument/2006/relationships/slide" Target="/ppt/slides/slide7.xml" Id="R124bf90593704f66" /><Relationship Type="http://schemas.openxmlformats.org/officeDocument/2006/relationships/slide" Target="/ppt/slides/slide8.xml" Id="Rc4fc0e4c9ddb4135" /><Relationship Type="http://schemas.openxmlformats.org/officeDocument/2006/relationships/slide" Target="/ppt/slides/slide9.xml" Id="Rdfb6c3055654475f" /><Relationship Type="http://schemas.openxmlformats.org/officeDocument/2006/relationships/slide" Target="/ppt/slides/slide10.xml" Id="R2cd89cefef1f4c2c" /><Relationship Type="http://schemas.openxmlformats.org/officeDocument/2006/relationships/slide" Target="/ppt/slides/slide11.xml" Id="Ra5de500cad2540df" /><Relationship Type="http://schemas.openxmlformats.org/officeDocument/2006/relationships/slide" Target="/ppt/slides/slide12.xml" Id="R176dc46e521449d9" /><Relationship Type="http://schemas.openxmlformats.org/officeDocument/2006/relationships/slide" Target="/ppt/slides/slide13.xml" Id="Rbdf9081d8dc144a3" /><Relationship Type="http://schemas.openxmlformats.org/officeDocument/2006/relationships/slide" Target="/ppt/slides/slide14.xml" Id="R562e1862ec6f4a76" /><Relationship Type="http://schemas.openxmlformats.org/officeDocument/2006/relationships/slide" Target="/ppt/slides/slide15.xml" Id="R8b1ae3a7b5734f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99c8bc0e3d45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3cce0833c048dc" /><Relationship Type="http://schemas.openxmlformats.org/officeDocument/2006/relationships/notesMaster" Target="/ppt/notesMasters/notesMaster1.xml" Id="Rcf8c4a773d3e49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fef91e424744d1" /><Relationship Type="http://schemas.openxmlformats.org/officeDocument/2006/relationships/notesMaster" Target="/ppt/notesMasters/notesMaster1.xml" Id="Rb34b9413fa064d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f0207d8fae493a" /><Relationship Type="http://schemas.openxmlformats.org/officeDocument/2006/relationships/notesMaster" Target="/ppt/notesMasters/notesMaster1.xml" Id="R36e1ae15b72a4e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483584b9e94a4f" /><Relationship Type="http://schemas.openxmlformats.org/officeDocument/2006/relationships/notesMaster" Target="/ppt/notesMasters/notesMaster1.xml" Id="Rcfa913d5f8d046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fe85103dda4dd1" /><Relationship Type="http://schemas.openxmlformats.org/officeDocument/2006/relationships/notesMaster" Target="/ppt/notesMasters/notesMaster1.xml" Id="R38e895c93ee54a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04bcf57fe84218" /><Relationship Type="http://schemas.openxmlformats.org/officeDocument/2006/relationships/notesMaster" Target="/ppt/notesMasters/notesMaster1.xml" Id="R6ab70e15300645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8f18962f834718" /><Relationship Type="http://schemas.openxmlformats.org/officeDocument/2006/relationships/notesMaster" Target="/ppt/notesMasters/notesMaster1.xml" Id="R9f5ccdedda074e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6672a46abf46ea" /><Relationship Type="http://schemas.openxmlformats.org/officeDocument/2006/relationships/notesMaster" Target="/ppt/notesMasters/notesMaster1.xml" Id="Rc387200ec38040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18a0010fc94607" /><Relationship Type="http://schemas.openxmlformats.org/officeDocument/2006/relationships/notesMaster" Target="/ppt/notesMasters/notesMaster1.xml" Id="Rf22599432c5444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995d4daed942e0" /><Relationship Type="http://schemas.openxmlformats.org/officeDocument/2006/relationships/notesMaster" Target="/ppt/notesMasters/notesMaster1.xml" Id="Rfa9301d6d12249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092dcd9edd433b" /><Relationship Type="http://schemas.openxmlformats.org/officeDocument/2006/relationships/notesMaster" Target="/ppt/notesMasters/notesMaster1.xml" Id="Rad47a43cb0fc4a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e8b04842ca418e" /><Relationship Type="http://schemas.openxmlformats.org/officeDocument/2006/relationships/notesMaster" Target="/ppt/notesMasters/notesMaster1.xml" Id="Re457486e30a541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f8de606d4c478d" /><Relationship Type="http://schemas.openxmlformats.org/officeDocument/2006/relationships/notesMaster" Target="/ppt/notesMasters/notesMaster1.xml" Id="R61c7d69b1ef94f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2fa35e16dd408c" /><Relationship Type="http://schemas.openxmlformats.org/officeDocument/2006/relationships/notesMaster" Target="/ppt/notesMasters/notesMaster1.xml" Id="R107053b71569417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f22f42721c4887" /><Relationship Type="http://schemas.openxmlformats.org/officeDocument/2006/relationships/notesMaster" Target="/ppt/notesMasters/notesMaster1.xml" Id="Rfb80a93329e147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b6d7b478d044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c95ed703f0428a" /><Relationship Type="http://schemas.openxmlformats.org/officeDocument/2006/relationships/slideLayout" Target="/ppt/slideLayouts/slideLayout1.xml" Id="R1c5d03ca5d9348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5d03ca5d9348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dd22e449e482a" /><Relationship Type="http://schemas.openxmlformats.org/officeDocument/2006/relationships/notesSlide" Target="/ppt/notesSlides/notesSlide1.xml" Id="R4a0c4b9a29304f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3ebb220e24942" /><Relationship Type="http://schemas.openxmlformats.org/officeDocument/2006/relationships/notesSlide" Target="/ppt/notesSlides/notesSlide2.xml" Id="R84144b1af0984c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f5953d3c64889" /><Relationship Type="http://schemas.openxmlformats.org/officeDocument/2006/relationships/notesSlide" Target="/ppt/notesSlides/notesSlide3.xml" Id="R216c1a67589c45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114e0544040d4" /><Relationship Type="http://schemas.openxmlformats.org/officeDocument/2006/relationships/notesSlide" Target="/ppt/notesSlides/notesSlide4.xml" Id="R2b17bea754fe48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82838fe614b6b" /><Relationship Type="http://schemas.openxmlformats.org/officeDocument/2006/relationships/notesSlide" Target="/ppt/notesSlides/notesSlide5.xml" Id="Re16f1ea11b8444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d99a127d04ada" /><Relationship Type="http://schemas.openxmlformats.org/officeDocument/2006/relationships/notesSlide" Target="/ppt/notesSlides/notesSlide6.xml" Id="R30bbef286f3e45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985e1e303f4511" /><Relationship Type="http://schemas.openxmlformats.org/officeDocument/2006/relationships/notesSlide" Target="/ppt/notesSlides/notesSlide7.xml" Id="R26bfb8cae1a647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96cfdf6aa47ef" /><Relationship Type="http://schemas.openxmlformats.org/officeDocument/2006/relationships/notesSlide" Target="/ppt/notesSlides/notesSlide8.xml" Id="Rf9626be2c5b744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0e0bb29204077" /><Relationship Type="http://schemas.openxmlformats.org/officeDocument/2006/relationships/notesSlide" Target="/ppt/notesSlides/notesSlide9.xml" Id="R5273254988f24a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5fc0aff4247d6" /><Relationship Type="http://schemas.openxmlformats.org/officeDocument/2006/relationships/notesSlide" Target="/ppt/notesSlides/notesSlide10.xml" Id="Ra71e397ee5014f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8da55f1554071" /><Relationship Type="http://schemas.openxmlformats.org/officeDocument/2006/relationships/notesSlide" Target="/ppt/notesSlides/notesSlide11.xml" Id="R18f7ecf404f541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42136447b4007" /><Relationship Type="http://schemas.openxmlformats.org/officeDocument/2006/relationships/notesSlide" Target="/ppt/notesSlides/notesSlide12.xml" Id="R33cb9fe44f384e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9f38e0d4146c5" /><Relationship Type="http://schemas.openxmlformats.org/officeDocument/2006/relationships/notesSlide" Target="/ppt/notesSlides/notesSlide13.xml" Id="R187f30a1379046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c3b27d39643b2" /><Relationship Type="http://schemas.openxmlformats.org/officeDocument/2006/relationships/notesSlide" Target="/ppt/notesSlides/notesSlide14.xml" Id="R942e593b14cc48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fb2f090274b57" /><Relationship Type="http://schemas.openxmlformats.org/officeDocument/2006/relationships/notesSlide" Target="/ppt/notesSlides/notesSlide15.xml" Id="R77f9d960a5f241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1FB6D6-92C1-4359-B592-BACB4690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3B3C9C-9518-4383-9423-7C08F078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F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6B85BC-264E-4CB2-B0E6-79B4B346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E8F6"/>
                </a:solidFill>
              </a:defRPr>
            </a:pPr>
            <a:r>
              <a:rPr sz="1200" b="1">
                <a:solidFill>
                  <a:srgbClr val="D8E8F6"/>
                </a:solidFill>
              </a:rPr>
              <a:t>AHA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8E75F-1DAC-493A-8F97-5A698B7E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723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B2F59"/>
                </a:solidFill>
              </a:defRPr>
            </a:pPr>
            <a:r>
              <a:rPr sz="3750" b="1">
                <a:solidFill>
                  <a:srgbClr val="0B2F59"/>
                </a:solidFill>
              </a:rPr>
              <a:t>高齡心衰竭照護最佳化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9C406-53FE-416A-8F0C-5B499585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82230"/>
                </a:solidFill>
              </a:defRPr>
            </a:pPr>
            <a:r>
              <a:rPr sz="2025" b="0">
                <a:solidFill>
                  <a:srgbClr val="182230"/>
                </a:solidFill>
              </a:rPr>
              <a:t>Strategies for Optimizing Heart Failure Care in the Older Adult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6D2057-3FD4-490D-80A1-920F21F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7239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4B23F6-3711-42F6-96C1-ECE1F802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1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2F59"/>
                </a:solidFill>
              </a:defRPr>
            </a:pPr>
            <a:r>
              <a:rPr sz="1725" b="1">
                <a:solidFill>
                  <a:srgbClr val="0B2F59"/>
                </a:solidFill>
              </a:rPr>
              <a:t>AHA 2026 scientific statement | 台灣醫師閱讀版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92643B-522B-4E43-AB40-81BFCF97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24375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整理重點：GDMT、裝置治療、共病與衰弱、shared decision-making、緩和醫療與照護落地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02270E-FC46-4500-981F-7E96EC9B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57350"/>
            <a:ext cx="2266950" cy="2266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0FC07-A1B7-4609-9647-BA7A771B5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47900"/>
            <a:ext cx="1257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B42318"/>
                </a:solidFill>
              </a:defRPr>
            </a:pPr>
            <a:r>
              <a:rPr sz="4050" b="1">
                <a:solidFill>
                  <a:srgbClr val="B42318"/>
                </a:solidFill>
              </a:rPr>
              <a:t>HF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320847-8D63-4ACD-9E0D-96C4E85D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52750"/>
            <a:ext cx="1752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2F59"/>
                </a:solidFill>
              </a:defRPr>
            </a:pPr>
            <a:r>
              <a:rPr sz="1725" b="1">
                <a:solidFill>
                  <a:srgbClr val="0B2F59"/>
                </a:solidFill>
              </a:rPr>
              <a:t>Older Adult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F2810C-A619-41B9-ABF2-78B9C3F2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8293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070"/>
                </a:solidFill>
              </a:defRPr>
            </a:pPr>
            <a:r>
              <a:rPr sz="1350" b="1">
                <a:solidFill>
                  <a:srgbClr val="526070"/>
                </a:solidFill>
              </a:rPr>
              <a:t>阿婷醫師的讀書筆記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6BAA2B-F9AB-43E1-B50F-B2CD048B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1436D-5CD3-4BE1-9BCC-99B05E3C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1/15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A9655-76DF-433D-AD89-97AB0BEF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2D6DFF-7454-4043-8ED6-D1B88FE6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250668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74408E-07E1-4CE7-86DD-95E0AA10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E1763-C96A-43AF-A0EB-807F6729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高齡心衰竭是最大照護負擔之一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769CE-500F-425A-8269-E6CFF29B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A8346-070B-4412-9D45-7772C3DC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673AB-AB89-4565-9BC7-11CE47F9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心衰竭盛行率隨年齡上升，住院與再住院主要集中在 65 歲以上族群。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B569E-8858-4A8B-9AD8-DB4FFBEE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CD267-9F5A-4AAF-89CB-71BB33C5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高齡病人常同時有衰弱、認知退化、腎功能下降、營養不良與社會孤立。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7AB01-1087-4814-B982-8512B69C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BB4541-45FC-45CF-9446-C6798614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臨床目標不只降低死亡率，也包含維持功能、減少住院、提升生活品質。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65A1AE-DE94-42E4-A4A4-B7306EFB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768C3F-608A-448D-9583-C1266DC9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實務重點：不要只問「可不可以用 GDMT」，更要問「如何讓這位病人能安全且持續地用」。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F3E77-E0C1-4E56-A506-96B93BEA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C15693-02EB-4250-901C-303F99DF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2/15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E6EA12-5A28-4367-B3CC-FCE5FEA6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2E2C78-4F97-496F-94C9-E9DC161A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20425558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13A742-4214-4283-96E8-D003DD86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Evidence base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BC4CC-5199-4DBA-8515-76C03297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GDMT：高齡不是自動排除條件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E6238-512C-4B55-B575-D0F6E80E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94165-BA73-44AD-9BDD-116431AD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8D941-8CD8-4833-A477-1672DD1E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HFrEF 四大藥物：ARNI 或 ACEi/ARB、實證 beta blocker、MRA、SGLT2 inhibitor。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9879C-7C1F-4884-A2EF-1A2311E3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3CE73-0819-4EE8-8743-96E2B96C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重要試驗次分析顯示，ARNI、SGLT2 inhibitor、MRA 與 beta blocker 的治療效果在年齡分層大致一致。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A8CB2-8C41-445D-8A85-9520F439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6EF3B-B401-4404-84A5-96BD9149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HFmrEF/HFpEF：SGLT2 inhibitor、MRA、利尿劑與特定情境下的 RAAS 相關治療，仍需依表現型與耐受性選擇。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7DC7D-FCBF-4861-B776-14B86C40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E5B4D0-A1C5-4308-AE10-73BA2460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高齡病人事件率高，絕對效益可能很重要；但副作用監測要更細。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7C08C-56DF-4132-A1B8-BFC316C1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8B75F-9D68-4CCA-B5FF-E44E01E5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3/15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4E312-208D-4057-B9AA-62A1E6DE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654622-4539-422A-A5F4-43E1148B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8969821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74643D-CBB9-457E-BC0C-855F1416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Therapeutic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2E8336-C1E0-4D09-986A-01F6D8E7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真正的問題：有效治療常被低度使用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0BE38-B12C-4BB2-B58D-B73C776C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38027-3921-4E68-AF0A-3A6E4D50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B5337-5D4E-4037-938E-B91AC89F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登錄資料顯示，年齡越高，eBB、MRA、ARNI 或 RAASi 使用與劑量最佳化越少。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ABD398-0D52-4AAB-8F31-CA323C69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B7A50-EA3D-4B25-98C2-225805C2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女性高齡病人可能面臨更明顯的 GDMT 使用落差。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EF558-0359-480C-A2A7-D7AFB9AF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CDA49-E1E7-49A1-B43A-0C48207C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常見原因：低血壓、腎功能、共病、多重用藥、費用、追蹤不易與臨床慣性。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6E7577-AF12-494D-8DE2-D2FCC0CE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0BEE88-2ED1-4B66-97E2-546AA07C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處方策略：低劑量啟動、早期追蹤、主動處理副作用，而不是直接放棄治療。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53FAC5-8B08-435E-B079-CD80F293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5CC170-39F9-49A5-95A3-8C404C1A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4/15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B08F7D-09FD-4EFA-A347-D5DC1A5D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58ED4-3095-48BC-AFBF-36866E9E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6268814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3A44E2-3624-4B0B-AD3E-622E5E0F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Devices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7DD10-BB06-4DED-9944-42BDF23B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CIED：ICD 與 CRT 要分開思考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D148C-6C4A-445E-850F-7071C5C8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B9E5E-1ADA-4453-AD3F-7F24E5F5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54FE3-FCC4-4634-8814-64B51C36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ICD：初級預防在高齡與複雜共病族群的淨效益較不確定，需考量有意義存活超過 1 年、猝死風險與病人偏好。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3B82D-D842-494C-9C9D-FE967B63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5778F-2241-45DF-857A-35723A57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CRT：可改善症狀、生活品質、住院與存活；不應只因年齡而排除。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71F39A-9DE1-4A15-AE44-CC969792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50116-10A2-4A4E-B0EF-D58111F2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裝置決策要納入併發症、回診負擔、電擊經驗、末期照護與去活化討論。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001277-6229-4B90-87FE-47C6F24F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B91A80-416E-42DD-B308-6A97684D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問法轉換：不是「幾歲還能裝」，而是「裝置對他的疾病歷程與在意的結果有沒有幫助」。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E7EBB-A873-4DED-8D1A-B7E1F726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380243-4AC5-45BB-8AD2-E8FB6BAF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5/15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EB9D9F-5C0E-4AB3-B3C0-A7D42211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F25427-70F4-416D-8A77-37E560E4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4305193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395DB9-D550-408D-934B-A63BBCA2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Domain Management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73A43-F92D-4E73-BD94-0E8B0EFC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四大 domain：把心衰竭照護拉回整個人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8884D-F6AE-44DC-BF52-07805762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6414A-1676-44BA-9534-6C631CC6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46672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9A67F-F886-461D-8EAB-20D2B534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193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18"/>
                </a:solidFill>
              </a:defRPr>
            </a:pPr>
            <a:r>
              <a:rPr sz="1875" b="1">
                <a:solidFill>
                  <a:srgbClr val="B42318"/>
                </a:solidFill>
              </a:rPr>
              <a:t>Medical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A72941-E7E0-4ABB-BEAE-D126B904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574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營養、鐵缺乏、腎功能、多重用藥、藥物交互作用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81F4B3-FE51-4829-A3BE-1AC5F68A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09750"/>
            <a:ext cx="46672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D5111-F1B6-4155-9CDB-F701DFB1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193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6CA8"/>
                </a:solidFill>
              </a:defRPr>
            </a:pPr>
            <a:r>
              <a:rPr sz="1875" b="1">
                <a:solidFill>
                  <a:srgbClr val="1B6CA8"/>
                </a:solidFill>
              </a:rPr>
              <a:t>Mind and emotion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0E9B3-2FB3-41AD-876C-B365E675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574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認知功能、憂鬱、服藥理解、家屬或照顧者協助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3D223-838D-4DB6-A994-1F2EEB24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46672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F4003-AC1E-427F-B301-D8F387CF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814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8A8A"/>
                </a:solidFill>
              </a:defRPr>
            </a:pPr>
            <a:r>
              <a:rPr sz="1875" b="1">
                <a:solidFill>
                  <a:srgbClr val="1F8A8A"/>
                </a:solidFill>
              </a:rPr>
              <a:t>Physical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BADE0-CA3C-4764-A583-8701E7E7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衰弱、跌倒、姿勢性低血壓、肌力、活動能力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991104-46E7-4164-9264-88451F66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6672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99F5AC-7AAF-42EE-AE09-E0A6406D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814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77D0E"/>
                </a:solidFill>
              </a:defRPr>
            </a:pPr>
            <a:r>
              <a:rPr sz="1875" b="1">
                <a:solidFill>
                  <a:srgbClr val="C77D0E"/>
                </a:solidFill>
              </a:rPr>
              <a:t>Social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6EBB38-0248-4761-85E4-3254BEAF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交通、費用、社會孤立、健康識能、視訊照護可近性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21B0D-C66D-42F7-A2AA-26F0DD2B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34001E-085E-48C1-92AD-426E5DD5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6/15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342B7A-FC4D-485B-975E-01056EE5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512CE6-C119-489B-9D3F-E0965B6A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6242762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2E027C-D033-4D9A-9071-389F9D63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Prescribing in older adults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D2D76-F4AA-4694-8246-DC1F7CB4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多重用藥與營養：先找可修正因子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F896E-0482-4CBC-B8AB-E0305FF5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24675-2E8D-40E6-80DA-CE891F22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095A8-430C-44A9-AC9B-4580F98E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每次調整 GDMT 前後，重新核對藥物、血壓、體重、eGFR、鉀離子與症狀。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D6DFD5-1532-4AA3-9ED1-FAFB84C9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B3C12F-A5FC-491E-AF51-C0562623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避免同時忽略低營養、鐵缺乏、利尿劑過量、NSAID、alpha blocker 等影響耐受性的因素。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DF998-0A1C-4659-88DB-7815ADCF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B8A8A1-C920-4E94-A232-A3029DE6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deprescribing 不是少治療，而是移除低價值或高風險藥物，讓高價值治療留下來。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CC4B0-D143-4547-AEC9-36DC1560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06F8C9-36E4-4611-9904-E8F8B39E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高齡處方的核心：不是單純加藥或減藥，而是提高整體 treatment fit。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A287A-39D4-4C0C-B3B3-2CBACEBB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CA731-0978-481D-8A38-610303C2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7/15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73F00D-5766-45F3-90D1-40A0F57C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E9CBE1-A654-4FC9-8494-D238456E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9258132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8FB27F-1A59-41E4-A107-45C9936C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Barriers and facilitators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0E0B1-5891-48AB-9468-84486349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GDMT 卡住時：用多層次障礙拆解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E2D72-9B58-4D37-94CC-5085A632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CCA61-EA84-4A5B-A405-04BE2489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325755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2EF1E-6339-4274-9B24-4DFD1ABB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95500"/>
            <a:ext cx="2800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18"/>
                </a:solidFill>
              </a:defRPr>
            </a:pPr>
            <a:r>
              <a:rPr sz="1875" b="1">
                <a:solidFill>
                  <a:srgbClr val="B42318"/>
                </a:solidFill>
              </a:rPr>
              <a:t>病人層級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E6288-EE39-41E6-ADB2-8E6B9AAF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2800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230"/>
                </a:solidFill>
              </a:defRPr>
            </a:pPr>
            <a:r>
              <a:rPr sz="1650" b="0">
                <a:solidFill>
                  <a:srgbClr val="182230"/>
                </a:solidFill>
              </a:rPr>
              <a:t>症狀負擔、跌倒擔心、健康識能、藥費、交通、照顧者缺乏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FCD97-73CA-463A-8228-8A0F800F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325755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053D12-FACA-4B54-9DD4-4E5292F0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2800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6CA8"/>
                </a:solidFill>
              </a:defRPr>
            </a:pPr>
            <a:r>
              <a:rPr sz="1875" b="1">
                <a:solidFill>
                  <a:srgbClr val="1B6CA8"/>
                </a:solidFill>
              </a:rPr>
              <a:t>醫療團隊層級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0F051-1A0C-4059-B6C2-A8E4C4879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28900"/>
            <a:ext cx="2800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230"/>
                </a:solidFill>
              </a:defRPr>
            </a:pPr>
            <a:r>
              <a:rPr sz="1650" b="0">
                <a:solidFill>
                  <a:srgbClr val="182230"/>
                </a:solidFill>
              </a:rPr>
              <a:t>臨床慣性、副作用擔心、跨科訊息不一致、追蹤間隔太長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7980B9-CF07-461D-87A9-9A24D1D4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325755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BB29F-2A34-4D68-BC08-2289E93DF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95500"/>
            <a:ext cx="2800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8A8A"/>
                </a:solidFill>
              </a:defRPr>
            </a:pPr>
            <a:r>
              <a:rPr sz="1875" b="1">
                <a:solidFill>
                  <a:srgbClr val="1F8A8A"/>
                </a:solidFill>
              </a:rPr>
              <a:t>系統層級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CF47EF-2757-4FA3-9EA7-E87237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28900"/>
            <a:ext cx="2800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230"/>
                </a:solidFill>
              </a:defRPr>
            </a:pPr>
            <a:r>
              <a:rPr sz="1650" b="0">
                <a:solidFill>
                  <a:srgbClr val="182230"/>
                </a:solidFill>
              </a:rPr>
              <a:t>給付限制、門診時間不足、藥師與護理資源不足、轉銜照護斷裂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1CA47-8F6F-43BA-84CB-4F8EB9C30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57800"/>
            <a:ext cx="9525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EDC5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2FD599-8565-4918-AB62-C0122150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29250"/>
            <a:ext cx="899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2F59"/>
                </a:solidFill>
              </a:defRPr>
            </a:pPr>
            <a:r>
              <a:rPr sz="1725" b="1">
                <a:solidFill>
                  <a:srgbClr val="0B2F59"/>
                </a:solidFill>
              </a:rPr>
              <a:t>把「病人不配合」改寫成「哪一層障礙還沒被解決」。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D88913-6944-4B94-9817-C070E161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0E73E-E391-4B72-A520-FD1E2310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8/15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1A520-A485-4AC2-B90D-EC2C45F2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B59B6-4176-449D-A205-B2E854C6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7299702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6696B2-229C-416C-88F0-6EFF445A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SDM and ACP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D1DD5-AD83-4B0E-BE2D-A7648DE1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Shared decision-making：目標會變，必須反覆確認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1DD1EB-4A6D-471F-A78F-B3C063EE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9AF8E5-35AA-4A6D-971D-F042F85E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402AE-35DA-4EF1-BFA0-B4073FA0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先釐清 what matters most：壽命、功能、症狀、居家生活、避免住院、避免侵入性治療。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5B069-0298-46BA-AA98-8BC923D1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F7964-5BD2-4CDE-BAA5-4E4CAC9A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討論治療效益時，也要說明負擔：抽血、回診、輸注、裝置併發症、住院天數、照顧者壓力。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374A0-C9A8-4AD7-B289-985F6BFC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00F63-0C60-4FEB-B167-4A1C920B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ACP 不是只在末期才談；晚期治療、LVAD、ICD 去活化與緩和醫療都需要預先對話。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8E586-F300-45D1-82FC-F45FACC7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266A92-1921-473A-AE16-E573660E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SDM 不是把決定丟給病人，而是用醫療證據幫病人做符合價值的選擇。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1583C-2190-453F-8AC3-688EDE29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B7448-F041-44F9-9BF9-043EFA88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9/15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6CAACA-8A3E-407F-A143-E07BA4AB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D7D080-568B-4C13-85F9-47247875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15151690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50ABD-B304-4956-85CA-6A95B0A9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4D493-7903-4700-8262-83B90B0C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能提高 GDMT uptake 的做法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58A2F8-30E7-493A-BB1B-ACED2F3B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6C17D-C059-492C-A6E2-FF680E9E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81749F-04B8-4473-AF6F-6FE6CE3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費用協助或給付改善：降低藥費可提升可近性，特別是固定收入的高齡族群。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AF148A-9A95-49A4-B05E-45B0DD3A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1D442-08A0-48B1-BE05-BFE41E74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電子決策支持、病人啟動工具與藥物 titration protocol：減少臨床慣性。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F8A3E-822F-46A2-9B04-413D29FF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9C504-5D4A-413E-B7AE-5E83D4A1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自我照護教育、遠距監測、出院轉銜照護、跨專業團隊：改善追蹤與持續性。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2B114C-51A9-41D1-9833-84FF424A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140B15-EE64-4B1A-A0BC-30478140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有些 intervention 改善處方率，有些改善照護銜接；不要期待單一工具解決所有問題。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A8D034-52E4-462F-A5F0-330ED7EC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01877-EE5B-40EB-9BB4-F7C30840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10/15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77139-DC1A-4091-B967-DCCCB2AA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76ADB-1C21-45EE-94A1-58971605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2199644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CBD1C0-8901-4B0A-9537-B1B59639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Palliative care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29B75-E1B0-4019-A967-40612188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緩和醫療：不是放棄治療，是減少不必要痛苦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95874F-F4AE-4693-B31F-5A4F3634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33D21-F2AF-493F-978F-5C2D3AA0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0BDF8-328D-4187-BB59-98DC41BE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高齡晚期心衰竭常見 refractory symptoms、反覆住院、GDMT 無法耐受與照顧負擔升高。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5EB4C-02B4-4CA1-8523-448E4058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0651E-7ACE-46AA-BF4C-075DD2F0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緩和醫療可協助症狀控制、目標釐清、家庭溝通、ACP 與治療負擔評估。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09FF4-DC9F-45D0-9557-764B0F67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F15A7A-B3A4-4BA3-BE92-49C3BA74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hospice 與 palliative care 不等同；早期轉介可與疾病治療並行。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EA9EEB-DC68-49B0-B0F5-504D275C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3137A-A2B4-438A-803F-8A2B197B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對 refractory HF：早期心衰竭專科與緩和醫療共同照護，通常比最後一刻才會診更有價值。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6BCBE-BF18-482C-9920-CD662F70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4A32F7-C4C8-41CC-9A8E-70425DFB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11/15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3C3F40-8811-4522-BBC7-3BA140B0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87988A-998D-450D-91C8-6734878F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9707089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3900D3-2B97-48A2-BF92-097F96F5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Clinic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0150F-4511-499C-A283-111E28B4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門診可用的高齡 HF 五步驟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3C05C4-5A8A-4177-B390-F2628A4E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AF8AC-4EB6-4605-842B-807FCEF1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866900" cy="28384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A885DC-044C-4BDC-8B2A-0E96A95B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778BBD-A4E8-4043-A335-3131567E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193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30596-2EE9-4B50-ABCE-A0131A64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447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F59"/>
                </a:solidFill>
              </a:defRPr>
            </a:pPr>
            <a:r>
              <a:rPr sz="1800" b="1">
                <a:solidFill>
                  <a:srgbClr val="0B2F59"/>
                </a:solidFill>
              </a:rPr>
              <a:t>定義 HF 類型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1BE4A-0F71-40BE-869C-410E428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1447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230"/>
                </a:solidFill>
              </a:defRPr>
            </a:pPr>
            <a:r>
              <a:rPr sz="1350" b="0">
                <a:solidFill>
                  <a:srgbClr val="182230"/>
                </a:solidFill>
              </a:rPr>
              <a:t>EF 類型、症狀、ATTR-CM 可能性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B668B-09B3-444D-A6AD-B838249E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81350"/>
            <a:ext cx="323850" cy="3238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5E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BC462-6D32-4093-85DD-E2139D2C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924050"/>
            <a:ext cx="1866900" cy="28384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2DC01-0FF2-4ACC-998C-ACF51256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1336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C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EBA58-E30C-4A0E-BD80-ACD0F316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2193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9D89E-84AA-4C7C-BC10-480CF02F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800350"/>
            <a:ext cx="1447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F59"/>
                </a:solidFill>
              </a:defRPr>
            </a:pPr>
            <a:r>
              <a:rPr sz="1800" b="1">
                <a:solidFill>
                  <a:srgbClr val="0B2F59"/>
                </a:solidFill>
              </a:rPr>
              <a:t>啟動高價值治療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4EA077-CA2B-4268-8A27-3A58E3E2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562350"/>
            <a:ext cx="1447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230"/>
                </a:solidFill>
              </a:defRPr>
            </a:pPr>
            <a:r>
              <a:rPr sz="1350" b="0">
                <a:solidFill>
                  <a:srgbClr val="182230"/>
                </a:solidFill>
              </a:rPr>
              <a:t>依證據與耐受性安排 GDMT 或裝置評估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5BDF0-5751-4392-9B0B-6C525FA8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181350"/>
            <a:ext cx="323850" cy="3238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5E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975A46-6D4B-45FF-8708-A8B2EE63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24050"/>
            <a:ext cx="1866900" cy="28384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B1708-80F5-4959-9EF3-8A6D2EDF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336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8A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F20409-1AD9-4985-95D8-69B062F1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193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A877F6-3EBC-4405-A3C1-6581135C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00350"/>
            <a:ext cx="1447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F59"/>
                </a:solidFill>
              </a:defRPr>
            </a:pPr>
            <a:r>
              <a:rPr sz="1800" b="1">
                <a:solidFill>
                  <a:srgbClr val="0B2F59"/>
                </a:solidFill>
              </a:rPr>
              <a:t>掃描 domain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806D0-FE71-4ABD-B9E0-D3C500C4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562350"/>
            <a:ext cx="1447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230"/>
                </a:solidFill>
              </a:defRPr>
            </a:pPr>
            <a:r>
              <a:rPr sz="1350" b="0">
                <a:solidFill>
                  <a:srgbClr val="182230"/>
                </a:solidFill>
              </a:rPr>
              <a:t>營養、認知、衰弱、跌倒、社會支持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CEFB2D-A627-4A5C-9592-07F8A1D1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323850" cy="3238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5E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8D244-F991-410B-A88D-7753CB8D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24050"/>
            <a:ext cx="1866900" cy="28384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AE6A56-BB02-4C17-B7C4-E2A78D6A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1336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7D0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DFFD40-3268-40C5-806D-617450E6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193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B3A47-44B8-49D8-B876-0E4A22BA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800350"/>
            <a:ext cx="1447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F59"/>
                </a:solidFill>
              </a:defRPr>
            </a:pPr>
            <a:r>
              <a:rPr sz="1800" b="1">
                <a:solidFill>
                  <a:srgbClr val="0B2F59"/>
                </a:solidFill>
              </a:rPr>
              <a:t>拆解障礙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623F76-68D4-4CD4-B9D8-EB93EF33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62350"/>
            <a:ext cx="1447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230"/>
                </a:solidFill>
              </a:defRPr>
            </a:pPr>
            <a:r>
              <a:rPr sz="1350" b="0">
                <a:solidFill>
                  <a:srgbClr val="182230"/>
                </a:solidFill>
              </a:rPr>
              <a:t>費用、追蹤、藥物交互作用、照顧者與交通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14CBA7-35D2-4ED3-B55B-A3633CA5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181350"/>
            <a:ext cx="323850" cy="3238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5E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6B69D-B3FB-41FB-A040-BBC00497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924050"/>
            <a:ext cx="1866900" cy="28384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8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866AF5-F49E-4D27-B9AD-BB02EB2F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F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6B93EF-AF02-4069-99D7-6502CFC2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21932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18279F-A618-4086-845E-93E789A2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1447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F59"/>
                </a:solidFill>
              </a:defRPr>
            </a:pPr>
            <a:r>
              <a:rPr sz="1800" b="1">
                <a:solidFill>
                  <a:srgbClr val="0B2F59"/>
                </a:solidFill>
              </a:rPr>
              <a:t>重談目標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0FE7CC-9A10-4ABD-B388-03D7E48E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62350"/>
            <a:ext cx="1447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230"/>
                </a:solidFill>
              </a:defRPr>
            </a:pPr>
            <a:r>
              <a:rPr sz="1350" b="0">
                <a:solidFill>
                  <a:srgbClr val="182230"/>
                </a:solidFill>
              </a:rPr>
              <a:t>每次病程轉折後更新 SDM 與 ACP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2F44BE-98C1-4B34-9B29-83A5518B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BAF317-9CD2-42FE-A5AE-B1001CA2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12/15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FDD62-33AC-4F25-A801-585FA5D1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7E2645-C0CD-4A15-B1D2-81151AA9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9007974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5243D6-F219-4F9A-B459-C1072CC9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Taiwan practice lens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2C2C49-408B-4AEA-86C1-81BD96CE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台灣臨床情境的落地提醒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96C22-ED9E-4C04-B818-28E99053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6262BA-C887-4A75-9E38-CA3C4EB4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CDB632-8A09-4A31-96A8-A46F21DA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把「藥物加不上去」記錄成具體原因：血壓、腎功能、鉀離子、症狀、費用、回診或照顧支持。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985DF-2FA6-4C4C-8E16-A5B87B53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03CAA-36CD-4DCD-9165-80689223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出院後 7 到 14 天內安排追蹤，優先檢視利尿劑、腎功能、電解質與四大藥物缺口。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E8294-B1D7-4CE4-ACAE-E82C9499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D4DEA-6AD9-40E3-A179-E2B53842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善用護理師、藥師、營養師、復健與居家照護資源，避免心衰竭治療只剩單一醫師處方。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A2411-E59D-4441-B3E3-927DD97A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C6984-4B55-427E-A3AB-1DEC697A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每次門診留下下一步：要加哪一類藥、何時抽血、何時回診、誰負責追蹤。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75BA55-8635-4F54-BB91-A05C75B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437D16-014D-4145-B2AF-30DA66BB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13/15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92900-953E-48C8-B811-42D99071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CF23C-0D87-4746-A00B-DCA46ACC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5401390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3955D6-D92D-412D-B742-18401E05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Take-home messages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8A649-4E00-43A3-AEE3-22F1D7B2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醫師版重點整理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F1FFC-1AD0-4A4A-9A25-586E83AE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2B86E-4DD9-41AE-A18A-2E5D4563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1CDCF-5AF0-41BD-9207-E12BBFB5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高齡不是 GDMT 或 CRT 的自動排除條件，但需要更精細的安全監測與目標討論。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E1975-A0CB-45EC-B3BE-EDB257B9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68C32-C465-4413-A7EC-310E28BB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384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ICD 初級預防在高齡複雜共病中要更重視淨效益、預期存活與病人偏好。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E1EB14-E950-4A29-AF3E-4D2CD573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A7519-481A-4FB8-98FA-81B18EA4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242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高齡心衰竭照護要同時處理 medical、mind、physical、social domains。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F3A82A-CE58-42B6-8E77-7401D086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B6CA8"/>
                </a:solidFill>
              </a:defRPr>
            </a:pPr>
            <a:r>
              <a:rPr sz="2025" b="1">
                <a:solidFill>
                  <a:srgbClr val="1B6CA8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1D7F5-9F76-4363-921D-D8FF35BF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0"/>
            <a:ext cx="9582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230"/>
                </a:solidFill>
              </a:defRPr>
            </a:pPr>
            <a:r>
              <a:rPr sz="1725" b="0">
                <a:solidFill>
                  <a:srgbClr val="182230"/>
                </a:solidFill>
              </a:rPr>
              <a:t>SDM、ACP 與緩和醫療應早期、反覆、以病人價值為核心。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AAB45-5431-4914-B9E4-7F41B25E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9906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8D7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BE279-F3BE-4F13-9D79-C9A6534E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37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2F59"/>
                </a:solidFill>
              </a:defRPr>
            </a:pPr>
            <a:r>
              <a:rPr sz="1650" b="1">
                <a:solidFill>
                  <a:srgbClr val="0B2F59"/>
                </a:solidFill>
              </a:rPr>
              <a:t>最佳化不是追求每個人都滿劑量，而是讓每位病人得到最符合證據與目標的照護組合。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ABA7FD-7D39-4386-AB6F-A16A8DDF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E35D9-D996-4F51-A496-39FFD786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14/15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A07C79-D8B5-4D2C-828E-39BD2D79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D15216-9758-498B-8D12-BD1D3103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9454339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DDB974-2786-4AF4-8960-DC1CBFAA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B6CA8"/>
                </a:solidFill>
              </a:defRPr>
            </a:pPr>
            <a:r>
              <a:rPr sz="975" b="1">
                <a:solidFill>
                  <a:srgbClr val="1B6CA8"/>
                </a:solidFill>
              </a:rPr>
              <a:t>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367AF-A2D0-4D34-849F-EDBDF426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2F59"/>
                </a:solidFill>
              </a:defRPr>
            </a:pPr>
            <a:r>
              <a:rPr sz="2550" b="1">
                <a:solidFill>
                  <a:srgbClr val="0B2F59"/>
                </a:solidFill>
              </a:rPr>
              <a:t>文獻來源與延伸閱讀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2AEE3-2564-4373-93D7-1DC59BB5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7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F1CC2-4DFD-4499-8EA0-D97DD416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B6CA8"/>
                </a:solidFill>
              </a:defRPr>
            </a:pPr>
            <a:r>
              <a:rPr sz="1575" b="1">
                <a:solidFill>
                  <a:srgbClr val="1B6CA8"/>
                </a:solidFill>
              </a:rPr>
              <a:t>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6747C-F81F-42BA-9D71-AABB5C7E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Lewsey SC, Martyn T, Blumer V, et al. Strategies for Optimizing Heart Failure Care in the Older Adult: A Scientific Statement From the American Heart Association. Circulation. 2026;153:e00-e00.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8541D-642F-4A32-8D4A-DD1B84C0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B6CA8"/>
                </a:solidFill>
              </a:defRPr>
            </a:pPr>
            <a:r>
              <a:rPr sz="1575" b="1">
                <a:solidFill>
                  <a:srgbClr val="1B6CA8"/>
                </a:solidFill>
              </a:rPr>
              <a:t>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AABF0-119F-42B4-BFB1-3FB4D165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09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DOI: 10.1161/CIR.0000000000001437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29D75-78B8-4170-9CDF-95BCF0A5E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90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B6CA8"/>
                </a:solidFill>
              </a:defRPr>
            </a:pPr>
            <a:r>
              <a:rPr sz="1575" b="1">
                <a:solidFill>
                  <a:srgbClr val="1B6CA8"/>
                </a:solidFill>
              </a:rPr>
              <a:t>3.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8FD42-7D03-47D6-8BDD-E118757D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71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AHA Journals: https://www.ahajournals.org/doi/10.1161/CIR.0000000000001437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622B6A-76C0-4CF2-B025-9A91F686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B6CA8"/>
                </a:solidFill>
              </a:defRPr>
            </a:pPr>
            <a:r>
              <a:rPr sz="1575" b="1">
                <a:solidFill>
                  <a:srgbClr val="1B6CA8"/>
                </a:solidFill>
              </a:rPr>
              <a:t>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81CE4D-4E11-4EAF-B7E5-BE608EA2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338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230"/>
                </a:solidFill>
              </a:defRPr>
            </a:pPr>
            <a:r>
              <a:rPr sz="1575" b="0">
                <a:solidFill>
                  <a:srgbClr val="182230"/>
                </a:solidFill>
              </a:rPr>
              <a:t>2022 AHA/ACC/HFSA Guideline for the Management of Heart Failure. DOI: 10.1161/CIR.0000000000001063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AF2FDE-2DE3-4FA1-BC82-6B0D53CC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9810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0F7F7"/>
          </a:solidFill>
          <a:ln xmlns:a="http://schemas.openxmlformats.org/drawingml/2006/main" w="9525">
            <a:solidFill>
              <a:srgbClr val="B7DA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9C5759-B6A2-4BC1-8BEE-7B8AD1C42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81650"/>
            <a:ext cx="935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2F59"/>
                </a:solidFill>
              </a:defRPr>
            </a:pPr>
            <a:r>
              <a:rPr sz="1500" b="1">
                <a:solidFill>
                  <a:srgbClr val="0B2F59"/>
                </a:solidFill>
              </a:rPr>
              <a:t>臨床使用提醒：本投影片為文獻閱讀整理，不能取代完整原文、藥品仿單、院內規範或個別病人評估。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0E1FDC-7F9C-4E07-912A-57201E89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A8699"/>
                </a:solidFill>
              </a:defRPr>
            </a:pPr>
            <a:r>
              <a:rPr sz="750" b="0">
                <a:solidFill>
                  <a:srgbClr val="7A8699"/>
                </a:solidFill>
              </a:rPr>
              <a:t>Source: Lewsey SC et al. Circulation. 2026. DOI: 10.1161/CIR.0000000000001437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9CB478-2DEF-44A3-BAE9-F3AA1D36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7A8699"/>
                </a:solidFill>
              </a:defRPr>
            </a:pPr>
            <a:r>
              <a:rPr sz="825" b="0">
                <a:solidFill>
                  <a:srgbClr val="7A8699"/>
                </a:solidFill>
              </a:rPr>
              <a:t>15/15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BD7A6-01A1-4EA2-8FE9-FA69BF0F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191250"/>
            <a:ext cx="18288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050164-18C9-44D8-8F28-4762EB6D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23887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26070"/>
                </a:solidFill>
              </a:defRPr>
            </a:pPr>
            <a:r>
              <a:rPr sz="750" b="1">
                <a:solidFill>
                  <a:srgbClr val="526070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5281649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2026-06-26T03:01:04.2580000Z</dcterms:created>
  <dcterms:modified xsi:type="dcterms:W3CDTF">2026-06-26T03:01:04.2580000Z</dcterms:modified>
</coreProperties>
</file>