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924823237d4aad" /><Relationship Type="http://schemas.openxmlformats.org/officeDocument/2006/relationships/extended-properties" Target="/docProps/app.xml" Id="R26a1f2c658104c67" /><Relationship Type="http://schemas.openxmlformats.org/officeDocument/2006/relationships/officeDocument" Target="/ppt/presentation.xml" Id="R614f0c57e25f4f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d6539b53e14a47"/>
  </p:sldMasterIdLst>
  <p:notesMasterIdLst>
    <p:notesMasterId xmlns:r="http://schemas.openxmlformats.org/officeDocument/2006/relationships" r:id="Rd1a5dfbdeeba40e0"/>
  </p:notesMasterIdLst>
  <p:sldIdLst>
    <p:sldId xmlns:r="http://schemas.openxmlformats.org/officeDocument/2006/relationships" id="256" r:id="R638230e4a9d345e8"/>
    <p:sldId xmlns:r="http://schemas.openxmlformats.org/officeDocument/2006/relationships" id="257" r:id="R3e889768486042c2"/>
    <p:sldId xmlns:r="http://schemas.openxmlformats.org/officeDocument/2006/relationships" id="258" r:id="R7ac9a576ab224192"/>
    <p:sldId xmlns:r="http://schemas.openxmlformats.org/officeDocument/2006/relationships" id="259" r:id="R1798cdec936148ef"/>
    <p:sldId xmlns:r="http://schemas.openxmlformats.org/officeDocument/2006/relationships" id="260" r:id="R1b4773d229314d2a"/>
    <p:sldId xmlns:r="http://schemas.openxmlformats.org/officeDocument/2006/relationships" id="261" r:id="Rda0b8da6157b49ec"/>
    <p:sldId xmlns:r="http://schemas.openxmlformats.org/officeDocument/2006/relationships" id="262" r:id="R8c2ecae922794daa"/>
    <p:sldId xmlns:r="http://schemas.openxmlformats.org/officeDocument/2006/relationships" id="263" r:id="Rf6c3e5be76354ced"/>
    <p:sldId xmlns:r="http://schemas.openxmlformats.org/officeDocument/2006/relationships" id="264" r:id="R7db83dc414e34c17"/>
    <p:sldId xmlns:r="http://schemas.openxmlformats.org/officeDocument/2006/relationships" id="265" r:id="Rc01fcb397628472a"/>
    <p:sldId xmlns:r="http://schemas.openxmlformats.org/officeDocument/2006/relationships" id="266" r:id="R85e969a5bd004659"/>
    <p:sldId xmlns:r="http://schemas.openxmlformats.org/officeDocument/2006/relationships" id="267" r:id="R752b984d1cde4248"/>
    <p:sldId xmlns:r="http://schemas.openxmlformats.org/officeDocument/2006/relationships" id="268" r:id="Ra4db7e318c804f7f"/>
    <p:sldId xmlns:r="http://schemas.openxmlformats.org/officeDocument/2006/relationships" id="269" r:id="Ra1cf1090a9d94654"/>
    <p:sldId xmlns:r="http://schemas.openxmlformats.org/officeDocument/2006/relationships" id="270" r:id="R63ec37f1e30148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a2676760c64f25" /><Relationship Type="http://schemas.openxmlformats.org/officeDocument/2006/relationships/slideMaster" Target="/ppt/slideMasters/slideMaster1.xml" Id="Rd9d6539b53e14a47" /><Relationship Type="http://schemas.openxmlformats.org/officeDocument/2006/relationships/notesMaster" Target="/ppt/notesMasters/notesMaster1.xml" Id="Rd1a5dfbdeeba40e0" /><Relationship Type="http://schemas.openxmlformats.org/officeDocument/2006/relationships/presProps" Target="/ppt/presProps.xml" Id="R5dcc5d2d963444c4" /><Relationship Type="http://schemas.openxmlformats.org/officeDocument/2006/relationships/tableStyles" Target="/ppt/tableStyles.xml" Id="R5ba7e03dea2e458d" /><Relationship Type="http://schemas.openxmlformats.org/officeDocument/2006/relationships/slide" Target="/ppt/slides/slide1.xml" Id="R638230e4a9d345e8" /><Relationship Type="http://schemas.openxmlformats.org/officeDocument/2006/relationships/slide" Target="/ppt/slides/slide2.xml" Id="R3e889768486042c2" /><Relationship Type="http://schemas.openxmlformats.org/officeDocument/2006/relationships/slide" Target="/ppt/slides/slide3.xml" Id="R7ac9a576ab224192" /><Relationship Type="http://schemas.openxmlformats.org/officeDocument/2006/relationships/slide" Target="/ppt/slides/slide4.xml" Id="R1798cdec936148ef" /><Relationship Type="http://schemas.openxmlformats.org/officeDocument/2006/relationships/slide" Target="/ppt/slides/slide5.xml" Id="R1b4773d229314d2a" /><Relationship Type="http://schemas.openxmlformats.org/officeDocument/2006/relationships/slide" Target="/ppt/slides/slide6.xml" Id="Rda0b8da6157b49ec" /><Relationship Type="http://schemas.openxmlformats.org/officeDocument/2006/relationships/slide" Target="/ppt/slides/slide7.xml" Id="R8c2ecae922794daa" /><Relationship Type="http://schemas.openxmlformats.org/officeDocument/2006/relationships/slide" Target="/ppt/slides/slide8.xml" Id="Rf6c3e5be76354ced" /><Relationship Type="http://schemas.openxmlformats.org/officeDocument/2006/relationships/slide" Target="/ppt/slides/slide9.xml" Id="R7db83dc414e34c17" /><Relationship Type="http://schemas.openxmlformats.org/officeDocument/2006/relationships/slide" Target="/ppt/slides/slide10.xml" Id="Rc01fcb397628472a" /><Relationship Type="http://schemas.openxmlformats.org/officeDocument/2006/relationships/slide" Target="/ppt/slides/slide11.xml" Id="R85e969a5bd004659" /><Relationship Type="http://schemas.openxmlformats.org/officeDocument/2006/relationships/slide" Target="/ppt/slides/slide12.xml" Id="R752b984d1cde4248" /><Relationship Type="http://schemas.openxmlformats.org/officeDocument/2006/relationships/slide" Target="/ppt/slides/slide13.xml" Id="Ra4db7e318c804f7f" /><Relationship Type="http://schemas.openxmlformats.org/officeDocument/2006/relationships/slide" Target="/ppt/slides/slide14.xml" Id="Ra1cf1090a9d94654" /><Relationship Type="http://schemas.openxmlformats.org/officeDocument/2006/relationships/slide" Target="/ppt/slides/slide15.xml" Id="R63ec37f1e30148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273132aa0642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e0395f67614f29" /><Relationship Type="http://schemas.openxmlformats.org/officeDocument/2006/relationships/notesMaster" Target="/ppt/notesMasters/notesMaster1.xml" Id="R3ce200fc9a3940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bb7f3265874fc3" /><Relationship Type="http://schemas.openxmlformats.org/officeDocument/2006/relationships/notesMaster" Target="/ppt/notesMasters/notesMaster1.xml" Id="Rbd6a56ffcf5d4e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55e7a858f84c7c" /><Relationship Type="http://schemas.openxmlformats.org/officeDocument/2006/relationships/notesMaster" Target="/ppt/notesMasters/notesMaster1.xml" Id="Re80d7a6703f646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906d86525c4868" /><Relationship Type="http://schemas.openxmlformats.org/officeDocument/2006/relationships/notesMaster" Target="/ppt/notesMasters/notesMaster1.xml" Id="R2891445028e14e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0fe2f0710047d3" /><Relationship Type="http://schemas.openxmlformats.org/officeDocument/2006/relationships/notesMaster" Target="/ppt/notesMasters/notesMaster1.xml" Id="R0f0eeb17a1014c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a1dcdb46114125" /><Relationship Type="http://schemas.openxmlformats.org/officeDocument/2006/relationships/notesMaster" Target="/ppt/notesMasters/notesMaster1.xml" Id="Ra9600d981fb247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c036591e074b52" /><Relationship Type="http://schemas.openxmlformats.org/officeDocument/2006/relationships/notesMaster" Target="/ppt/notesMasters/notesMaster1.xml" Id="R45278660f8434c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11e640a6224de9" /><Relationship Type="http://schemas.openxmlformats.org/officeDocument/2006/relationships/notesMaster" Target="/ppt/notesMasters/notesMaster1.xml" Id="R1b3e20dd949648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44f77a5297486d" /><Relationship Type="http://schemas.openxmlformats.org/officeDocument/2006/relationships/notesMaster" Target="/ppt/notesMasters/notesMaster1.xml" Id="R1d05dcfef49844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b708be01814be0" /><Relationship Type="http://schemas.openxmlformats.org/officeDocument/2006/relationships/notesMaster" Target="/ppt/notesMasters/notesMaster1.xml" Id="R1a53a53e3d1745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f0775017744e38" /><Relationship Type="http://schemas.openxmlformats.org/officeDocument/2006/relationships/notesMaster" Target="/ppt/notesMasters/notesMaster1.xml" Id="Rcacc9593ab9648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2e5d5db7134564" /><Relationship Type="http://schemas.openxmlformats.org/officeDocument/2006/relationships/notesMaster" Target="/ppt/notesMasters/notesMaster1.xml" Id="R27104db05ce24f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b04c0238394ddd" /><Relationship Type="http://schemas.openxmlformats.org/officeDocument/2006/relationships/notesMaster" Target="/ppt/notesMasters/notesMaster1.xml" Id="Rb95d1781f4e04e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dce201df3d4d84" /><Relationship Type="http://schemas.openxmlformats.org/officeDocument/2006/relationships/notesMaster" Target="/ppt/notesMasters/notesMaster1.xml" Id="R1916968fd3f746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8f591494b64d3e" /><Relationship Type="http://schemas.openxmlformats.org/officeDocument/2006/relationships/notesMaster" Target="/ppt/notesMasters/notesMaster1.xml" Id="Rc4b2335a8f4944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87706e67842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e7e035e8e04088" /><Relationship Type="http://schemas.openxmlformats.org/officeDocument/2006/relationships/slideLayout" Target="/ppt/slideLayouts/slideLayout1.xml" Id="R4ed4b2f9f7bc45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d4b2f9f7bc45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df3b3e9e24695" /><Relationship Type="http://schemas.openxmlformats.org/officeDocument/2006/relationships/notesSlide" Target="/ppt/notesSlides/notesSlide1.xml" Id="R1e6758d5735442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7266b3be8413c" /><Relationship Type="http://schemas.openxmlformats.org/officeDocument/2006/relationships/notesSlide" Target="/ppt/notesSlides/notesSlide2.xml" Id="R8ff3c78e61f44e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5b5c007504b7e" /><Relationship Type="http://schemas.openxmlformats.org/officeDocument/2006/relationships/notesSlide" Target="/ppt/notesSlides/notesSlide3.xml" Id="Rda431d745cf040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42d9abbb64485" /><Relationship Type="http://schemas.openxmlformats.org/officeDocument/2006/relationships/notesSlide" Target="/ppt/notesSlides/notesSlide4.xml" Id="R571e62434e3a4f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7695406644048" /><Relationship Type="http://schemas.openxmlformats.org/officeDocument/2006/relationships/notesSlide" Target="/ppt/notesSlides/notesSlide5.xml" Id="R21b30f623b6e49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4b8522a9e4daf" /><Relationship Type="http://schemas.openxmlformats.org/officeDocument/2006/relationships/image" Target="/ppt/media/image.png" Id="R4a75606259d34b3c" /><Relationship Type="http://schemas.openxmlformats.org/officeDocument/2006/relationships/notesSlide" Target="/ppt/notesSlides/notesSlide6.xml" Id="Rd8d935af0ad048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5ce1f4c3c410b" /><Relationship Type="http://schemas.openxmlformats.org/officeDocument/2006/relationships/notesSlide" Target="/ppt/notesSlides/notesSlide7.xml" Id="R64b17763e78e4f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5a5b1a9b24fea" /><Relationship Type="http://schemas.openxmlformats.org/officeDocument/2006/relationships/image" Target="/ppt/media/image2.png" Id="R1efb9e0bf0da4ef3" /><Relationship Type="http://schemas.openxmlformats.org/officeDocument/2006/relationships/notesSlide" Target="/ppt/notesSlides/notesSlide8.xml" Id="R99dd34a90e774f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8a5a937f84543" /><Relationship Type="http://schemas.openxmlformats.org/officeDocument/2006/relationships/notesSlide" Target="/ppt/notesSlides/notesSlide9.xml" Id="R0388585cf8534c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1dbaba8e7484a" /><Relationship Type="http://schemas.openxmlformats.org/officeDocument/2006/relationships/notesSlide" Target="/ppt/notesSlides/notesSlide10.xml" Id="R8ad9b2b4032842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24635846c4fde" /><Relationship Type="http://schemas.openxmlformats.org/officeDocument/2006/relationships/notesSlide" Target="/ppt/notesSlides/notesSlide11.xml" Id="Rf8ae11be826441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35b8212dc48a5" /><Relationship Type="http://schemas.openxmlformats.org/officeDocument/2006/relationships/notesSlide" Target="/ppt/notesSlides/notesSlide12.xml" Id="R39aa5bafd3274a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e971bd9bc4490" /><Relationship Type="http://schemas.openxmlformats.org/officeDocument/2006/relationships/notesSlide" Target="/ppt/notesSlides/notesSlide13.xml" Id="Rb536e153e5004f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1fb9051e341a8" /><Relationship Type="http://schemas.openxmlformats.org/officeDocument/2006/relationships/notesSlide" Target="/ppt/notesSlides/notesSlide14.xml" Id="R7c512493b66241b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e56cbd7f54c75" /><Relationship Type="http://schemas.openxmlformats.org/officeDocument/2006/relationships/notesSlide" Target="/ppt/notesSlides/notesSlide15.xml" Id="R14eb69c32d614d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2CBFBF-1744-478A-B9E9-34C6477E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1CC55-ECB5-4D9D-ABF7-7E5E6F04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D370A-CF30-4262-921C-3DE9A439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E8F6"/>
                </a:solidFill>
              </a:defRPr>
            </a:pPr>
            <a:r>
              <a:rPr sz="1200" b="1">
                <a:solidFill>
                  <a:srgbClr val="D8E8F6"/>
                </a:solidFill>
              </a:rPr>
              <a:t>AHA Scientific Statement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18768-D7C3-4C68-B5EE-80C6F090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B2F59"/>
                </a:solidFill>
              </a:defRPr>
            </a:pPr>
            <a:r>
              <a:rPr sz="3750" b="1">
                <a:solidFill>
                  <a:srgbClr val="0B2F59"/>
                </a:solidFill>
              </a:rPr>
              <a:t>高齡心衰竭照護最佳化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5A1F4-AC09-4B35-BA72-356D6E85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30"/>
                </a:solidFill>
              </a:defRPr>
            </a:pPr>
            <a:r>
              <a:rPr sz="2025" b="0">
                <a:solidFill>
                  <a:srgbClr val="182230"/>
                </a:solidFill>
              </a:rPr>
              <a:t>Strategies for Optimizing Heart Failure Care in the Older Adult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1EF52-6A72-4F1A-80F7-B29729F0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31418-E7E9-451B-8175-867B4F49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F59"/>
                </a:solidFill>
              </a:defRPr>
            </a:pPr>
            <a:r>
              <a:rPr sz="1725" b="1">
                <a:solidFill>
                  <a:srgbClr val="0B2F59"/>
                </a:solidFill>
              </a:rPr>
              <a:t>AHA 2026 scientific statement | 台灣醫師閱讀版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DCDBE-053B-4876-8264-6A1A0A8D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整理重點：GDMT、裝置治療、共病與衰弱、shared decision-making、緩和醫療與照護落地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BA3BD-E726-469C-9859-D8991043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266950" cy="2266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0C29A-A869-47AE-83D5-64CEF3BC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47900"/>
            <a:ext cx="1257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B42318"/>
                </a:solidFill>
              </a:defRPr>
            </a:pPr>
            <a:r>
              <a:rPr sz="4050" b="1">
                <a:solidFill>
                  <a:srgbClr val="B42318"/>
                </a:solidFill>
              </a:rPr>
              <a:t>HF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C5846-2C7C-42AE-BBAB-80A74834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F59"/>
                </a:solidFill>
              </a:defRPr>
            </a:pPr>
            <a:r>
              <a:rPr sz="1725" b="1">
                <a:solidFill>
                  <a:srgbClr val="0B2F59"/>
                </a:solidFill>
              </a:rPr>
              <a:t>Older Adult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82A2F-7E6D-4889-8DB3-828E388D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29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070"/>
                </a:solidFill>
              </a:defRPr>
            </a:pPr>
            <a:r>
              <a:rPr sz="1350" b="1">
                <a:solidFill>
                  <a:srgbClr val="526070"/>
                </a:solidFill>
              </a:rPr>
              <a:t>阿婷醫師的讀書筆記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DD725-207E-4408-9BE6-A39280A5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CE476-3655-426E-9073-056A63F3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1/15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6788C-7BE7-4782-B862-7FE14B28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760F7-49CD-4EAC-A2B3-9E889F49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1384956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3A3AC1-35C0-491E-ABA8-81E5D091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8751B-C05C-4329-8699-06515C43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高齡心衰竭是最大照護負擔之一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8CD4A-91C8-4BE5-8D3C-7F87121D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857E4-6818-4E0C-A2AF-E7B91836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6B49E-3E0C-48E8-93DF-C76279A2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心衰竭盛行率隨年齡上升，住院與再住院主要集中在 65 歲以上族群。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21844-1C04-4698-AD81-704C5D9B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CEB4A-EACF-428C-9D1B-0D811486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高齡病人常同時有衰弱、認知退化、腎功能下降、營養不良與社會孤立。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3F01E-8DCB-46F4-BEF6-09A54991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832F1-3F27-47F0-8B29-344C5843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臨床目標不只降低死亡率，也包含維持功能、減少住院、提升生活品質。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20C9F-D095-43BA-A212-DBF789B1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8D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5EA08-477B-4D34-891D-0314095F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F59"/>
                </a:solidFill>
              </a:defRPr>
            </a:pPr>
            <a:r>
              <a:rPr sz="1650" b="1">
                <a:solidFill>
                  <a:srgbClr val="0B2F59"/>
                </a:solidFill>
              </a:rPr>
              <a:t>實務重點：不要只問「可不可以用 GDMT」，更要問「如何讓這位病人能安全且持續地用」。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BBBD1-0459-47BD-A4B5-727124A9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49DBC-A445-4FEF-9BE6-CA95CCB3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2/15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55116-6263-447E-8FA7-5288EDDB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A09FC-FF97-4C32-BB4A-0C8AD6BB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9799750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C24AFA-18DE-4BAD-ADB4-C6418881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Evidence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F3F16-FFA8-4707-B12E-403825F2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GDMT：高齡不是自動排除條件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8FACC-08CF-44B4-B5DB-3E7E239B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D8017-BB92-42C1-8202-A9DC6EA8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3257C-CA5F-46AB-AD05-FF852ED7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HFrEF 四大藥物：ARNI 或 ACEi/ARB、實證 beta blocker、MRA、SGLT2 inhibitor。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AF2EB-D342-491C-BAB0-FE20776C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F1841-8B71-47F4-B3DA-2B6DE5A2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重要試驗次分析顯示，ARNI、SGLT2 inhibitor、MRA 與 beta blocker 的治療效果在年齡分層大致一致。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4D7CB-2B3D-4743-8758-8243DB55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BD6F9-551A-42F9-B771-72D98114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HFmrEF/HFpEF：SGLT2 inhibitor、MRA、利尿劑與特定情境下的 RAAS 相關治療，仍需依表現型與耐受性選擇。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8E09B-FD9D-4F91-B3A0-3B3E165B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8D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6C2EB-FF86-4843-90D8-A8599301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F59"/>
                </a:solidFill>
              </a:defRPr>
            </a:pPr>
            <a:r>
              <a:rPr sz="1650" b="1">
                <a:solidFill>
                  <a:srgbClr val="0B2F59"/>
                </a:solidFill>
              </a:rPr>
              <a:t>高齡病人事件率高，絕對效益可能很重要；但副作用監測要更細。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F91AB-D837-476B-8368-3B4CFEB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6BF7E-B9A2-4B5B-B97D-E082203B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3/15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4310A-74B5-40D9-862C-1511DA7C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20B38-CD6C-47A7-8104-3000E745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994688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91A4BF-D6B0-413A-86D4-4A0297B7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Therapeutic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0F289-371E-45E2-9525-1226FB5C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真正的問題：有效治療常被低度使用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82382-6C6D-43BA-9BFB-426B774C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4304F-8DA8-4E7C-92E8-6280106A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2DE78-BC0F-433A-8CED-645BFE22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登錄資料顯示，年齡越高，eBB、MRA、ARNI 或 RAASi 使用與劑量最佳化越少。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360C2-645E-4369-BCD9-C91917F8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F41F0-7007-4BE0-8FE0-4F4F8EDC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女性高齡病人可能面臨更明顯的 GDMT 使用落差。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ACB42-5350-45EB-A976-42F16B8C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6BF44-6BB4-41DF-91DE-72EC8F45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常見原因：低血壓、腎功能、共病、多重用藥、費用、追蹤不易與臨床慣性。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55141-3644-4460-A4EC-B50FF39C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8D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6F6CF-B691-4F2A-8E0F-0B1FC5F7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F59"/>
                </a:solidFill>
              </a:defRPr>
            </a:pPr>
            <a:r>
              <a:rPr sz="1650" b="1">
                <a:solidFill>
                  <a:srgbClr val="0B2F59"/>
                </a:solidFill>
              </a:rPr>
              <a:t>處方策略：低劑量啟動、早期追蹤、主動處理副作用，而不是直接放棄治療。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623DC-676E-42DD-BE4E-DDE12F55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6D5D1-7ADE-4EA3-A4EE-F7B2435F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4/15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CA91B-2F8F-4187-A5AD-0730B25D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472A1-BA5C-4712-96CE-58937C90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8805507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3D7529-86BC-47E3-85FD-F4136C28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Devices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F8CDE-44BC-413D-9575-3B148CF7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CIED：ICD 與 CRT 要分開思考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199D9-AA9F-44D0-8907-A7927B44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7B218-684B-4C4A-8122-16133050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51DB3-667A-498F-895E-994641C5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ICD：初級預防在高齡與複雜共病族群的淨效益較不確定，需考量有意義存活超過 1 年、猝死風險與病人偏好。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45189-9645-4D84-9D13-AECFACFF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003E7-903D-4CF6-8417-E22A749B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CRT：可改善症狀、生活品質、住院與存活；不應只因年齡而排除。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70531-E242-4CA3-B19A-92F22A17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7BC01-0BF5-4665-AB07-E3872C61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裝置決策要納入併發症、回診負擔、電擊經驗、末期照護與去活化討論。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DDA06-FB04-4A2D-8013-CCAF1478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8D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DA9C4-B64D-4D38-A814-02D67CB8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F59"/>
                </a:solidFill>
              </a:defRPr>
            </a:pPr>
            <a:r>
              <a:rPr sz="1650" b="1">
                <a:solidFill>
                  <a:srgbClr val="0B2F59"/>
                </a:solidFill>
              </a:rPr>
              <a:t>問法轉換：不是「幾歲還能裝」，而是「裝置對他的疾病歷程與在意的結果有沒有幫助」。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BA94A-5923-43AB-B24E-383AA5F2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2B3C1-836A-4B97-94BC-59B37490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5/15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F7A0A-07BA-4A05-9414-20F26F66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01A64-7653-4767-947A-70A3113C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1669021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AA6C55-B111-457A-9385-25D48CCB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Domain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3140E-9EEF-4E0E-B6E7-7ADAAA9D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四大 domain：把心衰竭照護拉回整個人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7D261-A764-488A-8F59-5C5ACB71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2862A-87C0-4070-81E4-49CD77C0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原始圖表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5606259d34b3c"/>
          <a:stretch xmlns:a="http://schemas.openxmlformats.org/drawingml/2006/main"/>
        </p:blipFill>
        <p:spPr>
          <a:xfrm xmlns:a="http://schemas.openxmlformats.org/drawingml/2006/main">
            <a:off x="1126269" y="2057400"/>
            <a:ext cx="5043612" cy="3790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3F4B1-E6FE-4496-9459-1A313C40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35ADC-FAD6-418E-BE55-D26B926B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5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臨床解讀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13926-47F0-4981-BFFF-94DD06BC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09598-F265-47D8-9180-AC72880F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F59"/>
                </a:solidFill>
              </a:defRPr>
            </a:pPr>
            <a:r>
              <a:rPr sz="1725" b="1">
                <a:solidFill>
                  <a:srgbClr val="0B2F59"/>
                </a:solidFill>
              </a:rPr>
              <a:t>Medical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20A91-7D06-4A7C-B29F-5A53A7E4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3600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營養、鐵缺乏、腎功能、多重用藥、藥物交互作用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5B0C5-A432-436E-A99D-BB455B6C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28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BCDF3-7862-4B9C-97EF-CDEFBF40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F59"/>
                </a:solidFill>
              </a:defRPr>
            </a:pPr>
            <a:r>
              <a:rPr sz="1725" b="1">
                <a:solidFill>
                  <a:srgbClr val="0B2F59"/>
                </a:solidFill>
              </a:rPr>
              <a:t>Mind and emotion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B0607-A95D-4A31-9506-F427AC86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3600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認知功能、憂鬱、服藥理解、家屬或照顧者協助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9BE50-54A0-444A-8A24-F744B62F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243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7644F-6979-40A5-9290-D457DD6F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24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F59"/>
                </a:solidFill>
              </a:defRPr>
            </a:pPr>
            <a:r>
              <a:rPr sz="1725" b="1">
                <a:solidFill>
                  <a:srgbClr val="0B2F59"/>
                </a:solidFill>
              </a:rPr>
              <a:t>Physical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862E0-C8C2-40FA-9A92-E6918865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48150"/>
            <a:ext cx="3600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衰弱、跌倒、姿勢性低血壓、肌力、活動能力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20450-51F5-4EE0-947C-EE0FAFCD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8DE43-D546-4FA9-A833-0259F8AF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1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F59"/>
                </a:solidFill>
              </a:defRPr>
            </a:pPr>
            <a:r>
              <a:rPr sz="1725" b="1">
                <a:solidFill>
                  <a:srgbClr val="0B2F59"/>
                </a:solidFill>
              </a:rPr>
              <a:t>Social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0AB90-0C33-4A83-B23F-CDA7F8A0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43500"/>
            <a:ext cx="3600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交通、費用、社會孤立、健康識能、視訊照護可近性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9921C-AF50-4C91-B2C5-BAF8F502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Figure 1. Lewsey et al., Circulation 2026. 原圖保留英文標示以維持原始內容。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39B1E6-7081-40A3-AA41-CC2E003F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256903-8E8C-476B-A37A-2613CF6E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6/15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2D39E-7A99-4262-A9FA-2F891A77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F19EE-E9D1-4986-A616-C06D8961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797121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19B7B9-A805-43D5-9280-D8CFDE94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Prescribing in older adults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C1805-4BBE-4726-8EAD-AB074B56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多重用藥與營養：先找可修正因子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12340-6A41-4567-BCE5-088786F8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C3A1E-7A7E-432D-904A-7E512D16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9D2AD-C104-4FEE-B6B9-CD9F498B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每次調整 GDMT 前後，重新核對藥物、血壓、體重、eGFR、鉀離子與症狀。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78F4F-B9FA-4BBB-8CCA-DEEF397E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24003-B654-4B8C-92E7-866ECF84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避免同時忽略低營養、鐵缺乏、利尿劑過量、NSAID、alpha blocker 等影響耐受性的因素。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E6986-A9F6-4FD6-85B8-562EC34C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27C78-D5A6-4E43-B697-02C9460F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deprescribing 不是少治療，而是移除低價值或高風險藥物，讓高價值治療留下來。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220E1-B713-4C68-8C02-C5EE52E6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8D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CBF32-1A59-44FC-92C8-53EDF59A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F59"/>
                </a:solidFill>
              </a:defRPr>
            </a:pPr>
            <a:r>
              <a:rPr sz="1650" b="1">
                <a:solidFill>
                  <a:srgbClr val="0B2F59"/>
                </a:solidFill>
              </a:rPr>
              <a:t>高齡處方的核心：不是單純加藥或減藥，而是提高整體 treatment fit。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232D6-A033-43EC-97AC-50951BBD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73A40-0D70-4E5E-A2E0-DC222BF9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7/15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DF86C-3407-47EA-994A-1AACAADE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D8AB1-5F42-4960-B72D-0ACE6763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5220919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725389-848F-47B1-B26F-D1640AB6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Barriers and facilitators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213E2-E243-4EC5-8C8D-39B1EA48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GDMT 卡住時：用多層次障礙拆解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B84E3-608B-475C-A0BA-DAC637E5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b9e0bf0da4ef3"/>
          <a:stretch xmlns:a="http://schemas.openxmlformats.org/drawingml/2006/main"/>
        </p:blipFill>
        <p:spPr>
          <a:xfrm xmlns:a="http://schemas.openxmlformats.org/drawingml/2006/main">
            <a:off x="1696403" y="1657350"/>
            <a:ext cx="3789045" cy="421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E55EB-76C0-4F2F-9C96-8BF469DD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907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F59"/>
                </a:solidFill>
              </a:defRPr>
            </a:pPr>
            <a:r>
              <a:rPr sz="1800" b="1">
                <a:solidFill>
                  <a:srgbClr val="0B2F59"/>
                </a:solidFill>
              </a:rPr>
              <a:t>用原圖快速定位問題，再回到可介入層級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595A1-249E-4F64-9EAD-DFB05EB5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B624F-14DF-4AF0-B36A-7A78CA2B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F59"/>
                </a:solidFill>
              </a:defRPr>
            </a:pPr>
            <a:r>
              <a:rPr sz="1650" b="1">
                <a:solidFill>
                  <a:srgbClr val="0B2F59"/>
                </a:solidFill>
              </a:rPr>
              <a:t>病人層級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5D908-9C53-46BD-A141-492A7393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0"/>
                </a:solidFill>
              </a:defRPr>
            </a:pPr>
            <a:r>
              <a:rPr sz="1275" b="0">
                <a:solidFill>
                  <a:srgbClr val="182230"/>
                </a:solidFill>
              </a:rPr>
              <a:t>症狀負擔、跌倒擔心、健康識能、藥費、交通、照顧者缺乏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F2764-3585-4E81-80E3-393EBF93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72F18-4C12-4D26-9E6D-07F33AFA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F59"/>
                </a:solidFill>
              </a:defRPr>
            </a:pPr>
            <a:r>
              <a:rPr sz="1650" b="1">
                <a:solidFill>
                  <a:srgbClr val="0B2F59"/>
                </a:solidFill>
              </a:rPr>
              <a:t>醫療團隊層級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70448-EAA8-4567-8278-443D82BD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909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0"/>
                </a:solidFill>
              </a:defRPr>
            </a:pPr>
            <a:r>
              <a:rPr sz="1275" b="0">
                <a:solidFill>
                  <a:srgbClr val="182230"/>
                </a:solidFill>
              </a:rPr>
              <a:t>臨床慣性、副作用擔心、跨科訊息不一致、追蹤間隔太長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A7753-C019-4FAE-9430-845F6A4C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91000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425B4-8607-4986-9882-EB66EAB6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F59"/>
                </a:solidFill>
              </a:defRPr>
            </a:pPr>
            <a:r>
              <a:rPr sz="1650" b="1">
                <a:solidFill>
                  <a:srgbClr val="0B2F59"/>
                </a:solidFill>
              </a:rPr>
              <a:t>系統層級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034EE-12AA-4CE1-B84D-737DCE29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958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0"/>
                </a:solidFill>
              </a:defRPr>
            </a:pPr>
            <a:r>
              <a:rPr sz="1275" b="0">
                <a:solidFill>
                  <a:srgbClr val="182230"/>
                </a:solidFill>
              </a:rPr>
              <a:t>給付限制、門診時間不足、藥師與護理資源不足、轉銜照護斷裂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91CFB-B461-4654-80B0-A8CEBF45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5305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5C8D2-3A67-4186-8992-9331F241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05450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F59"/>
                </a:solidFill>
              </a:defRPr>
            </a:pPr>
            <a:r>
              <a:rPr sz="1350" b="1">
                <a:solidFill>
                  <a:srgbClr val="0B2F59"/>
                </a:solidFill>
              </a:rPr>
              <a:t>把「病人不配合」改寫成「哪一層障礙還沒被解決」。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3514C-13C8-4B5B-97B0-1C1D9588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Figure 2. Lewsey et al., Circulation 2026. 原圖保留英文標示以維持原始內容。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E992A-49A0-464E-9F30-F169FFA3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C0C0D-901C-4B52-AA87-B9AE379B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8/15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5ED72-3D30-4552-9D4F-28A14AA2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43C39-5EBB-44AA-838E-EE1C9476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410192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62A4A-11B5-4779-973F-F3C61218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SDM and ACP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98D97-CF60-49B8-8342-1F81398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Shared decision-making：目標會變，必須反覆確認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20B84-0B83-4E1F-821A-97235E85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2C39B-C61B-4FD5-A592-3A4003B9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35FBD-D528-4E15-9BD0-E3965995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先釐清 what matters most：壽命、功能、症狀、居家生活、避免住院、避免侵入性治療。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0EB54-E231-4B00-A28D-18ACF533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22877-F7FF-4EA2-B423-FC5C3C91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討論治療效益時，也要說明負擔：抽血、回診、輸注、裝置併發症、住院天數、照顧者壓力。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6CE7A-64A4-4C89-8E0B-76381CE7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AB9D1-2EBC-465B-B24B-19E76E30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ACP 不是只在末期才談；晚期治療、LVAD、ICD 去活化與緩和醫療都需要預先對話。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FD4BB-D9C1-4CF2-80BC-24B9B957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8D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9F323-BC05-484C-AEA2-7A34812F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F59"/>
                </a:solidFill>
              </a:defRPr>
            </a:pPr>
            <a:r>
              <a:rPr sz="1650" b="1">
                <a:solidFill>
                  <a:srgbClr val="0B2F59"/>
                </a:solidFill>
              </a:rPr>
              <a:t>SDM 不是把決定丟給病人，而是用醫療證據幫病人做符合價值的選擇。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1D06B-E4FF-4F0E-8FE0-835E68C8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D5C15-413C-468F-813B-ECE89DDB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9/15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F7EF8-9A42-4EB9-BEE0-F6678379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78E32-0EBE-449B-8D60-D53CADC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9403479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741F9C-01DA-4D2E-9214-FB630136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D6EC3-5292-4942-BD87-6A074465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能提高 GDMT uptake 的做法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CB0D1-F866-4172-AFCC-62B96291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48821-2CBB-4EF6-B7B1-ED99C7DE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830D1-0298-4C7D-9C89-3E1D8F99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費用協助或給付改善：降低藥費可提升可近性，特別是固定收入的高齡族群。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95B1C-5A70-41CA-BF52-1A7DBD1A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01CDB-7695-4302-ADE8-176EF073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電子決策支持、病人啟動工具與藥物 titration protocol：減少臨床慣性。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BFF00-FB61-4243-9069-B6AD5656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AC961-EDE0-4BE5-93BD-91EB555A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自我照護教育、遠距監測、出院轉銜照護、跨專業團隊：改善追蹤與持續性。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5A1CF-20FD-4FFD-A5D7-F2CD111A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8D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96AEE-F683-4C1F-92CD-B96B8BDF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F59"/>
                </a:solidFill>
              </a:defRPr>
            </a:pPr>
            <a:r>
              <a:rPr sz="1650" b="1">
                <a:solidFill>
                  <a:srgbClr val="0B2F59"/>
                </a:solidFill>
              </a:rPr>
              <a:t>有些 intervention 改善處方率，有些改善照護銜接；不要期待單一工具解決所有問題。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7BDC4-F8B7-4B53-A3CD-9B090EF5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0B3A2-01B3-4DBB-BF59-A9B51A70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10/15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A6E37-D3DA-4715-8055-3D37FDAB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AF5B6-D2A9-486F-8024-EA8476AD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11906501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36DC42-7ABD-4E0F-B1C1-EC24EE18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Palliative 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E0ED1-C853-4C6E-BC5D-91EE170C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緩和醫療：不是放棄治療，是減少不必要痛苦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B8C71-DD31-4AC1-8EBE-519F790D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D216D-119B-44C6-9CFC-DE8A9EA7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D3A5F-0712-40A3-B648-ACFAA957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高齡晚期心衰竭常見 refractory symptoms、反覆住院、GDMT 無法耐受與照顧負擔升高。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7B9CD-F5C5-471F-B7FB-400C9D17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E9AAE-156E-43C6-886C-62A4FC80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緩和醫療可協助症狀控制、目標釐清、家庭溝通、ACP 與治療負擔評估。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30FA7-7790-41A5-9D1F-04F6828F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8086C-3C64-4D78-819A-8F0E0DD1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hospice 與 palliative care 不等同；早期轉介可與疾病治療並行。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E873F-D749-458F-8BDD-0AF60B40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8D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3030C-0C43-447B-A735-903C7DAD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F59"/>
                </a:solidFill>
              </a:defRPr>
            </a:pPr>
            <a:r>
              <a:rPr sz="1650" b="1">
                <a:solidFill>
                  <a:srgbClr val="0B2F59"/>
                </a:solidFill>
              </a:rPr>
              <a:t>對 refractory HF：早期心衰竭專科與緩和醫療共同照護，通常比最後一刻才會診更有價值。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962A5-FA58-4B5A-8E48-4C21EA4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EA976-1F0F-4CC3-AB9F-D9E0BCC0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11/15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3AA37-960D-490B-B7D6-1AB46E29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7CC2F-5F3C-46FD-A216-0238D83A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1857968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A0BFF-A8EA-4B6C-8450-DCF3E646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Clinic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33D4D-8DB3-4339-9902-4749F9F4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門診可用的高齡 HF 五步驟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FE1DB-30FB-4DF8-9DC6-62182190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5475B-3CEC-41A1-9C0D-C3CEA9BD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866900" cy="28384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BB4A1-87FE-43E7-9C7D-E6D16ADD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C1FD9-7CA6-49AA-80BD-CD8469E9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193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160B8-4A61-463D-B5A9-7B0ED7FD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F59"/>
                </a:solidFill>
              </a:defRPr>
            </a:pPr>
            <a:r>
              <a:rPr sz="1800" b="1">
                <a:solidFill>
                  <a:srgbClr val="0B2F59"/>
                </a:solidFill>
              </a:rPr>
              <a:t>定義 HF 類型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35B93-2B15-4421-894A-56A42556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44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EF 類型、症狀、ATTR-CM 可能性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19989-08E8-4FE7-A502-EFC0BC61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3238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E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6EC50-61C8-4CA5-ADE6-F60E72A4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24050"/>
            <a:ext cx="1866900" cy="28384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73567-0FEA-44F7-B488-973C4C0F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336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D8630-34A5-4C39-AA88-3656200D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2193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6C2E8-F311-4023-8863-9B82CF0D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003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F59"/>
                </a:solidFill>
              </a:defRPr>
            </a:pPr>
            <a:r>
              <a:rPr sz="1800" b="1">
                <a:solidFill>
                  <a:srgbClr val="0B2F59"/>
                </a:solidFill>
              </a:rPr>
              <a:t>啟動高價值治療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C5F95-A678-4580-ADAB-36C53DC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62350"/>
            <a:ext cx="144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依證據與耐受性安排 GDMT 或裝置評估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AB5DF-8D03-4913-99D0-64C58326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181350"/>
            <a:ext cx="3238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E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6A24E-57C9-4C5F-B098-D6552F67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24050"/>
            <a:ext cx="1866900" cy="28384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8F993-F17B-4125-8345-7F41D691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336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05F09-B448-4704-9E67-646E0AC8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193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2D734-F564-438A-A739-546F2234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F59"/>
                </a:solidFill>
              </a:defRPr>
            </a:pPr>
            <a:r>
              <a:rPr sz="1800" b="1">
                <a:solidFill>
                  <a:srgbClr val="0B2F59"/>
                </a:solidFill>
              </a:rPr>
              <a:t>掃描 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F557F-D1D1-4EAE-BAF4-3A631AA7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62350"/>
            <a:ext cx="144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營養、認知、衰弱、跌倒、社會支持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02303-E001-4639-841E-4AD75316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3238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E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6CBD6-E931-4233-96AE-AE77AE25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24050"/>
            <a:ext cx="1866900" cy="28384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BDA54-BAE1-4ED5-89A7-B3D64101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1336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D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FA96BE-6A1D-46CC-A7B0-E6B80928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2193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785A7-19E5-43C1-BEDD-376CF194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003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F59"/>
                </a:solidFill>
              </a:defRPr>
            </a:pPr>
            <a:r>
              <a:rPr sz="1800" b="1">
                <a:solidFill>
                  <a:srgbClr val="0B2F59"/>
                </a:solidFill>
              </a:rPr>
              <a:t>拆解障礙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BC7B56-22BF-4779-8B76-A8C4357E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562350"/>
            <a:ext cx="144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費用、追蹤、藥物交互作用、照顧者與交通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AA10DD-1103-4879-8EF5-9F964FBC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81350"/>
            <a:ext cx="3238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E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DE0633-0323-47A7-872E-EA7B960D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24050"/>
            <a:ext cx="1866900" cy="28384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8637BB-8DDC-4511-B485-5F624667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336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7AA2C9-5AD5-41C5-81B8-71986CC0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193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E67E41-1C9D-4D4D-8148-77D94722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F59"/>
                </a:solidFill>
              </a:defRPr>
            </a:pPr>
            <a:r>
              <a:rPr sz="1800" b="1">
                <a:solidFill>
                  <a:srgbClr val="0B2F59"/>
                </a:solidFill>
              </a:rPr>
              <a:t>重談目標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875004-A74F-4B61-ADB0-0094B904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62350"/>
            <a:ext cx="144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每次病程轉折後更新 SDM 與 ACP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2DCFA9-82EB-47A2-A6CB-77EA3EC2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139407-2244-4CA0-816C-AA1D95F9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12/15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7169D2-F853-4D38-9553-71037508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DF4B2B-37A8-4A3B-B5D2-1A973393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4024634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6C650-7D56-4D0B-830A-85336F01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Taiwan practice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7295B-68CD-45E8-9E13-3EE4C4AE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台灣臨床情境的落地提醒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9E712-BA41-4ED3-AE39-58DECBFE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B03F2-25B8-47EA-BF33-42C3DE0D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F6D44-7150-4A4A-A037-93E7DB91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把「藥物加不上去」記錄成具體原因：血壓、腎功能、鉀離子、症狀、費用、回診或照顧支持。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AF0CB-689D-473F-8BF7-B5A2B3DD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3CCF1-8BB1-4070-8946-A6AD0FBC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出院後 7 到 14 天內安排追蹤，優先檢視利尿劑、腎功能、電解質與四大藥物缺口。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32508-9C0E-406F-B2FA-DE9A78C1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A9DDF-7271-4F85-B4C7-316D248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善用護理師、藥師、營養師、復健與居家照護資源，避免心衰竭治療只剩單一醫師處方。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D01EA-0AB2-44C3-9E60-D089181C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8D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76F95-7E8E-4B46-950B-68FCA303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F59"/>
                </a:solidFill>
              </a:defRPr>
            </a:pPr>
            <a:r>
              <a:rPr sz="1650" b="1">
                <a:solidFill>
                  <a:srgbClr val="0B2F59"/>
                </a:solidFill>
              </a:rPr>
              <a:t>每次門診留下下一步：要加哪一類藥、何時抽血、何時回診、誰負責追蹤。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3976B-E3B1-48B0-8128-F114CBB3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7ED6D-0E86-447A-9BC4-888C5F53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13/15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A1285-32C3-46B4-B4B7-DC3C9B6F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65A86-E14D-4E46-A609-116F0D51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8438920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AF50F1-05E0-4961-9CC8-BD6CD298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Take-home messages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64BD8-F8E8-4C9F-97FE-ECCEFEF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醫師版重點整理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C592B-8DAE-477F-9CEE-74FFE26F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E5531-A80C-4430-81E9-9B55A6DF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C3A13-D781-402F-BB08-2F50B52E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高齡不是 GDMT 或 CRT 的自動排除條件，但需要更精細的安全監測與目標討論。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391FB-EEA9-49E7-A5F8-0636527D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6B916-1446-4E65-93CD-35EE535B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ICD 初級預防在高齡複雜共病中要更重視淨效益、預期存活與病人偏好。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F94D9-58A4-45B4-A7E6-840DBA81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A4357-06FB-4DC4-BF6A-A1222CDE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高齡心衰竭照護要同時處理 medical、mind、physical、social domains。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35A35-8FC6-4CC8-973A-620201CF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6CA8"/>
                </a:solidFill>
              </a:defRPr>
            </a:pPr>
            <a:r>
              <a:rPr sz="2025" b="1">
                <a:solidFill>
                  <a:srgbClr val="1B6CA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2E1DC-918D-4A1B-90DF-6D36D939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</a:defRPr>
            </a:pPr>
            <a:r>
              <a:rPr sz="1725" b="0">
                <a:solidFill>
                  <a:srgbClr val="182230"/>
                </a:solidFill>
              </a:rPr>
              <a:t>SDM、ACP 與緩和醫療應早期、反覆、以病人價值為核心。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14797-FE7A-4D21-AD93-A9F82A16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8D7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861F8-A6B0-46A8-B37C-E7F9F0B2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F59"/>
                </a:solidFill>
              </a:defRPr>
            </a:pPr>
            <a:r>
              <a:rPr sz="1650" b="1">
                <a:solidFill>
                  <a:srgbClr val="0B2F59"/>
                </a:solidFill>
              </a:rPr>
              <a:t>最佳化不是追求每個人都滿劑量，而是讓每位病人得到最符合證據與目標的照護組合。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9CED9-0359-4154-8F4E-7E135594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20787-A2F9-477B-9A90-AEEC9554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14/15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CB26D-7B19-45FD-83EF-CF2FCB5F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CA0B8-4149-4633-9507-E6229AAD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15699701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B6894A-16D7-4355-B287-FFFCC4F2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CA8"/>
                </a:solidFill>
              </a:defRPr>
            </a:pPr>
            <a:r>
              <a:rPr sz="975" b="1">
                <a:solidFill>
                  <a:srgbClr val="1B6CA8"/>
                </a:solidFill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5CF4D-C5BD-4B4E-95E7-E3935844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59"/>
                </a:solidFill>
              </a:defRPr>
            </a:pPr>
            <a:r>
              <a:rPr sz="2550" b="1">
                <a:solidFill>
                  <a:srgbClr val="0B2F59"/>
                </a:solidFill>
              </a:rPr>
              <a:t>文獻來源與延伸閱讀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9EA87-3250-4CCA-8B5C-DDE5A471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E432A-EB80-4F17-A9C5-8E5FD7B6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6CA8"/>
                </a:solidFill>
              </a:defRPr>
            </a:pPr>
            <a:r>
              <a:rPr sz="1575" b="1">
                <a:solidFill>
                  <a:srgbClr val="1B6CA8"/>
                </a:solidFill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59F94-73D7-4A68-9E9C-6CE33DBE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478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0"/>
                </a:solidFill>
              </a:defRPr>
            </a:pPr>
            <a:r>
              <a:rPr sz="1575" b="0">
                <a:solidFill>
                  <a:srgbClr val="182230"/>
                </a:solidFill>
              </a:rPr>
              <a:t>Lewsey SC, Martyn T, Blumer V, et al. Strategies for Optimizing Heart Failure Care in the Older Adult: A Scientific Statement From the American Heart Association. Circulation. 2026;153:e00-e00.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BB66A-6182-4DCE-B352-8B206901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6CA8"/>
                </a:solidFill>
              </a:defRPr>
            </a:pPr>
            <a:r>
              <a:rPr sz="1575" b="1">
                <a:solidFill>
                  <a:srgbClr val="1B6CA8"/>
                </a:solidFill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55D62-0E00-4C8F-B7FF-E0407229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0"/>
                </a:solidFill>
              </a:defRPr>
            </a:pPr>
            <a:r>
              <a:rPr sz="1575" b="0">
                <a:solidFill>
                  <a:srgbClr val="182230"/>
                </a:solidFill>
              </a:rPr>
              <a:t>DOI: 10.1161/CIR.0000000000001437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A1727-95CB-459B-9EB8-53B8635A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6CA8"/>
                </a:solidFill>
              </a:defRPr>
            </a:pPr>
            <a:r>
              <a:rPr sz="1575" b="1">
                <a:solidFill>
                  <a:srgbClr val="1B6CA8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57123-6A3E-4F86-9FDB-4E0E576F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0"/>
                </a:solidFill>
              </a:defRPr>
            </a:pPr>
            <a:r>
              <a:rPr sz="1575" b="0">
                <a:solidFill>
                  <a:srgbClr val="182230"/>
                </a:solidFill>
              </a:rPr>
              <a:t>AHA Journals: https://www.ahajournals.org/doi/10.1161/CIR.0000000000001437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69F4D-41C7-4355-B314-1216E595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6CA8"/>
                </a:solidFill>
              </a:defRPr>
            </a:pPr>
            <a:r>
              <a:rPr sz="1575" b="1">
                <a:solidFill>
                  <a:srgbClr val="1B6CA8"/>
                </a:solidFill>
              </a:rPr>
              <a:t>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5E908-EA81-4B64-8351-9F3BED95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0"/>
                </a:solidFill>
              </a:defRPr>
            </a:pPr>
            <a:r>
              <a:rPr sz="1575" b="0">
                <a:solidFill>
                  <a:srgbClr val="182230"/>
                </a:solidFill>
              </a:rPr>
              <a:t>2022 AHA/ACC/HFSA Guideline for the Management of Heart Failure. DOI: 10.1161/CIR.0000000000001063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6DA38-62EE-40D5-959E-6243B6ED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9810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7F7"/>
          </a:solidFill>
          <a:ln xmlns:a="http://schemas.openxmlformats.org/drawingml/2006/main" w="9525">
            <a:solidFill>
              <a:srgbClr val="B7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4CCE6-E869-47F1-A7DE-623FFEE0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81650"/>
            <a:ext cx="935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F59"/>
                </a:solidFill>
              </a:defRPr>
            </a:pPr>
            <a:r>
              <a:rPr sz="1500" b="1">
                <a:solidFill>
                  <a:srgbClr val="0B2F59"/>
                </a:solidFill>
              </a:rPr>
              <a:t>臨床使用提醒：本投影片為文獻閱讀整理，不能取代完整原文、藥品仿單、院內規範或個別病人評估。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59555-A549-4358-87C6-12D7F534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699"/>
                </a:solidFill>
              </a:defRPr>
            </a:pPr>
            <a:r>
              <a:rPr sz="750" b="0">
                <a:solidFill>
                  <a:srgbClr val="7A8699"/>
                </a:solidFill>
              </a:rPr>
              <a:t>Source: Lewsey SC et al. Circulation. 2026. DOI: 10.1161/CIR.0000000000001437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51E5A-30FA-4E6F-A8D8-AFB47979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699"/>
                </a:solidFill>
              </a:defRPr>
            </a:pPr>
            <a:r>
              <a:rPr sz="825" b="0">
                <a:solidFill>
                  <a:srgbClr val="7A8699"/>
                </a:solidFill>
              </a:rPr>
              <a:t>15/15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C581F-5150-416B-9796-46AFB9F6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828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1B202-C197-49A4-972E-36F56A98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3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070"/>
                </a:solidFill>
              </a:defRPr>
            </a:pPr>
            <a:r>
              <a:rPr sz="750" b="1">
                <a:solidFill>
                  <a:srgbClr val="526070"/>
                </a:solidFill>
              </a:rPr>
              <a:t>阿婷醫師的讀書筆記</a:t>
            </a:r>
          </a:p>
        </p:txBody>
      </p:sp>
    </p:spTree>
    <p:extLst>
      <p:ext uri="{BB962C8B-B14F-4D97-AF65-F5344CB8AC3E}">
        <p14:creationId xmlns:p14="http://schemas.microsoft.com/office/powerpoint/2010/main" val="15154322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2026-06-26T06:09:22.3210000Z</dcterms:created>
  <dcterms:modified xsi:type="dcterms:W3CDTF">2026-06-26T06:09:22.3210000Z</dcterms:modified>
</coreProperties>
</file>