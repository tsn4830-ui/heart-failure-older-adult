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5612cfaac84cab" /><Relationship Type="http://schemas.openxmlformats.org/officeDocument/2006/relationships/extended-properties" Target="/docProps/app.xml" Id="R7e347a37f04349e2" /><Relationship Type="http://schemas.openxmlformats.org/officeDocument/2006/relationships/officeDocument" Target="/ppt/presentation.xml" Id="R91285c7c004c43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cadfc543544c35"/>
  </p:sldMasterIdLst>
  <p:notesMasterIdLst>
    <p:notesMasterId xmlns:r="http://schemas.openxmlformats.org/officeDocument/2006/relationships" r:id="Rbaba669dd35f4aaa"/>
  </p:notesMasterIdLst>
  <p:sldIdLst>
    <p:sldId xmlns:r="http://schemas.openxmlformats.org/officeDocument/2006/relationships" id="256" r:id="Raa7d499994344375"/>
    <p:sldId xmlns:r="http://schemas.openxmlformats.org/officeDocument/2006/relationships" id="257" r:id="Reca4713f46574831"/>
    <p:sldId xmlns:r="http://schemas.openxmlformats.org/officeDocument/2006/relationships" id="258" r:id="R9bb1cb3148854ac4"/>
    <p:sldId xmlns:r="http://schemas.openxmlformats.org/officeDocument/2006/relationships" id="259" r:id="R192b5fd4024c4692"/>
    <p:sldId xmlns:r="http://schemas.openxmlformats.org/officeDocument/2006/relationships" id="260" r:id="R5ecd296df40040a7"/>
    <p:sldId xmlns:r="http://schemas.openxmlformats.org/officeDocument/2006/relationships" id="261" r:id="R4abe4b009882420c"/>
    <p:sldId xmlns:r="http://schemas.openxmlformats.org/officeDocument/2006/relationships" id="262" r:id="Rab9bf156a89a43c8"/>
    <p:sldId xmlns:r="http://schemas.openxmlformats.org/officeDocument/2006/relationships" id="263" r:id="Rc2a9b7d9d33841c1"/>
    <p:sldId xmlns:r="http://schemas.openxmlformats.org/officeDocument/2006/relationships" id="264" r:id="Rcf3ea20be657451d"/>
    <p:sldId xmlns:r="http://schemas.openxmlformats.org/officeDocument/2006/relationships" id="265" r:id="Rf3a9b5b8244246bb"/>
    <p:sldId xmlns:r="http://schemas.openxmlformats.org/officeDocument/2006/relationships" id="266" r:id="R79dc05bcef204a50"/>
    <p:sldId xmlns:r="http://schemas.openxmlformats.org/officeDocument/2006/relationships" id="267" r:id="R93a8a82feaed4ede"/>
    <p:sldId xmlns:r="http://schemas.openxmlformats.org/officeDocument/2006/relationships" id="268" r:id="Ra2c2864181114220"/>
    <p:sldId xmlns:r="http://schemas.openxmlformats.org/officeDocument/2006/relationships" id="269" r:id="Rc113238c6622413e"/>
    <p:sldId xmlns:r="http://schemas.openxmlformats.org/officeDocument/2006/relationships" id="270" r:id="R5f25a8d0bb914f3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54666340d64c7c" /><Relationship Type="http://schemas.openxmlformats.org/officeDocument/2006/relationships/slideMaster" Target="/ppt/slideMasters/slideMaster1.xml" Id="Re0cadfc543544c35" /><Relationship Type="http://schemas.openxmlformats.org/officeDocument/2006/relationships/notesMaster" Target="/ppt/notesMasters/notesMaster1.xml" Id="Rbaba669dd35f4aaa" /><Relationship Type="http://schemas.openxmlformats.org/officeDocument/2006/relationships/presProps" Target="/ppt/presProps.xml" Id="Rede9ed9d76414cf0" /><Relationship Type="http://schemas.openxmlformats.org/officeDocument/2006/relationships/tableStyles" Target="/ppt/tableStyles.xml" Id="R07f1f3dcfc5543d0" /><Relationship Type="http://schemas.openxmlformats.org/officeDocument/2006/relationships/slide" Target="/ppt/slides/slide1.xml" Id="Raa7d499994344375" /><Relationship Type="http://schemas.openxmlformats.org/officeDocument/2006/relationships/slide" Target="/ppt/slides/slide2.xml" Id="Reca4713f46574831" /><Relationship Type="http://schemas.openxmlformats.org/officeDocument/2006/relationships/slide" Target="/ppt/slides/slide3.xml" Id="R9bb1cb3148854ac4" /><Relationship Type="http://schemas.openxmlformats.org/officeDocument/2006/relationships/slide" Target="/ppt/slides/slide4.xml" Id="R192b5fd4024c4692" /><Relationship Type="http://schemas.openxmlformats.org/officeDocument/2006/relationships/slide" Target="/ppt/slides/slide5.xml" Id="R5ecd296df40040a7" /><Relationship Type="http://schemas.openxmlformats.org/officeDocument/2006/relationships/slide" Target="/ppt/slides/slide6.xml" Id="R4abe4b009882420c" /><Relationship Type="http://schemas.openxmlformats.org/officeDocument/2006/relationships/slide" Target="/ppt/slides/slide7.xml" Id="Rab9bf156a89a43c8" /><Relationship Type="http://schemas.openxmlformats.org/officeDocument/2006/relationships/slide" Target="/ppt/slides/slide8.xml" Id="Rc2a9b7d9d33841c1" /><Relationship Type="http://schemas.openxmlformats.org/officeDocument/2006/relationships/slide" Target="/ppt/slides/slide9.xml" Id="Rcf3ea20be657451d" /><Relationship Type="http://schemas.openxmlformats.org/officeDocument/2006/relationships/slide" Target="/ppt/slides/slide10.xml" Id="Rf3a9b5b8244246bb" /><Relationship Type="http://schemas.openxmlformats.org/officeDocument/2006/relationships/slide" Target="/ppt/slides/slide11.xml" Id="R79dc05bcef204a50" /><Relationship Type="http://schemas.openxmlformats.org/officeDocument/2006/relationships/slide" Target="/ppt/slides/slide12.xml" Id="R93a8a82feaed4ede" /><Relationship Type="http://schemas.openxmlformats.org/officeDocument/2006/relationships/slide" Target="/ppt/slides/slide13.xml" Id="Ra2c2864181114220" /><Relationship Type="http://schemas.openxmlformats.org/officeDocument/2006/relationships/slide" Target="/ppt/slides/slide14.xml" Id="Rc113238c6622413e" /><Relationship Type="http://schemas.openxmlformats.org/officeDocument/2006/relationships/slide" Target="/ppt/slides/slide15.xml" Id="R5f25a8d0bb914f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8ce409da7a45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5a514e25394c0c" /><Relationship Type="http://schemas.openxmlformats.org/officeDocument/2006/relationships/notesMaster" Target="/ppt/notesMasters/notesMaster1.xml" Id="R31249fe205894f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c1e3630628484c" /><Relationship Type="http://schemas.openxmlformats.org/officeDocument/2006/relationships/notesMaster" Target="/ppt/notesMasters/notesMaster1.xml" Id="Rb8001b9d595741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b617fa1d0c4a6e" /><Relationship Type="http://schemas.openxmlformats.org/officeDocument/2006/relationships/notesMaster" Target="/ppt/notesMasters/notesMaster1.xml" Id="R3f1a8316d7c44f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2a687552234ade" /><Relationship Type="http://schemas.openxmlformats.org/officeDocument/2006/relationships/notesMaster" Target="/ppt/notesMasters/notesMaster1.xml" Id="R0250a86910ee49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82ac1cb6ca438f" /><Relationship Type="http://schemas.openxmlformats.org/officeDocument/2006/relationships/notesMaster" Target="/ppt/notesMasters/notesMaster1.xml" Id="R42ded41418c840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32e681cffc4d2e" /><Relationship Type="http://schemas.openxmlformats.org/officeDocument/2006/relationships/notesMaster" Target="/ppt/notesMasters/notesMaster1.xml" Id="R678da01a998a4d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7a2b79bad14a5b" /><Relationship Type="http://schemas.openxmlformats.org/officeDocument/2006/relationships/notesMaster" Target="/ppt/notesMasters/notesMaster1.xml" Id="R6a3fca12a41e4f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97718b5a3642f5" /><Relationship Type="http://schemas.openxmlformats.org/officeDocument/2006/relationships/notesMaster" Target="/ppt/notesMasters/notesMaster1.xml" Id="R3ac4dc8a7c6e4c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2e077052834148" /><Relationship Type="http://schemas.openxmlformats.org/officeDocument/2006/relationships/notesMaster" Target="/ppt/notesMasters/notesMaster1.xml" Id="R340a9c0ecd1446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68ba15f655b4149" /><Relationship Type="http://schemas.openxmlformats.org/officeDocument/2006/relationships/notesMaster" Target="/ppt/notesMasters/notesMaster1.xml" Id="R5704a507565649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f0289a2f954850" /><Relationship Type="http://schemas.openxmlformats.org/officeDocument/2006/relationships/notesMaster" Target="/ppt/notesMasters/notesMaster1.xml" Id="Rb2f92a7be30f45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9ca5f3232d54cd7" /><Relationship Type="http://schemas.openxmlformats.org/officeDocument/2006/relationships/notesMaster" Target="/ppt/notesMasters/notesMaster1.xml" Id="Raeb34b1b027143d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9ed9ac1c514402e" /><Relationship Type="http://schemas.openxmlformats.org/officeDocument/2006/relationships/notesMaster" Target="/ppt/notesMasters/notesMaster1.xml" Id="R5c855b5b927c477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849ef42d59f45cb" /><Relationship Type="http://schemas.openxmlformats.org/officeDocument/2006/relationships/notesMaster" Target="/ppt/notesMasters/notesMaster1.xml" Id="Rb28199754986490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201fe9492114009" /><Relationship Type="http://schemas.openxmlformats.org/officeDocument/2006/relationships/notesMaster" Target="/ppt/notesMasters/notesMaster1.xml" Id="R5ba2d685745c45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b32f440c1148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92d963652b4686" /><Relationship Type="http://schemas.openxmlformats.org/officeDocument/2006/relationships/slideLayout" Target="/ppt/slideLayouts/slideLayout1.xml" Id="R6a8e151bc0f44c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8e151bc0f44c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a590e8bb98488c" /><Relationship Type="http://schemas.openxmlformats.org/officeDocument/2006/relationships/notesSlide" Target="/ppt/notesSlides/notesSlide1.xml" Id="Ra511e0ee0ca84a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1286a6b054655" /><Relationship Type="http://schemas.openxmlformats.org/officeDocument/2006/relationships/notesSlide" Target="/ppt/notesSlides/notesSlide2.xml" Id="R31863c83fbd341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177b5641b4b8f" /><Relationship Type="http://schemas.openxmlformats.org/officeDocument/2006/relationships/notesSlide" Target="/ppt/notesSlides/notesSlide3.xml" Id="Rcec264130d3649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203e051b64f55" /><Relationship Type="http://schemas.openxmlformats.org/officeDocument/2006/relationships/notesSlide" Target="/ppt/notesSlides/notesSlide4.xml" Id="R5a845257ce214f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9b83ff00e4c7b" /><Relationship Type="http://schemas.openxmlformats.org/officeDocument/2006/relationships/notesSlide" Target="/ppt/notesSlides/notesSlide5.xml" Id="R9e304a369a1c4a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8a67322794b84" /><Relationship Type="http://schemas.openxmlformats.org/officeDocument/2006/relationships/image" Target="/ppt/media/image.png" Id="R46f4e35f47b8420c" /><Relationship Type="http://schemas.openxmlformats.org/officeDocument/2006/relationships/notesSlide" Target="/ppt/notesSlides/notesSlide6.xml" Id="Rf937a4b7603f45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25baffd9643a1" /><Relationship Type="http://schemas.openxmlformats.org/officeDocument/2006/relationships/notesSlide" Target="/ppt/notesSlides/notesSlide7.xml" Id="Ra49a958666584e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d2afa156841d8" /><Relationship Type="http://schemas.openxmlformats.org/officeDocument/2006/relationships/image" Target="/ppt/media/image2.png" Id="R0b219e3a9c7b41e3" /><Relationship Type="http://schemas.openxmlformats.org/officeDocument/2006/relationships/notesSlide" Target="/ppt/notesSlides/notesSlide8.xml" Id="Rfa422305065c45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66b3563884646" /><Relationship Type="http://schemas.openxmlformats.org/officeDocument/2006/relationships/notesSlide" Target="/ppt/notesSlides/notesSlide9.xml" Id="R71ca3eafb13e44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79ea1147a4459" /><Relationship Type="http://schemas.openxmlformats.org/officeDocument/2006/relationships/notesSlide" Target="/ppt/notesSlides/notesSlide10.xml" Id="R49f763ee945548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531425ba24fd1" /><Relationship Type="http://schemas.openxmlformats.org/officeDocument/2006/relationships/notesSlide" Target="/ppt/notesSlides/notesSlide11.xml" Id="Rbaf4005e8fc247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e748a44a2e4025" /><Relationship Type="http://schemas.openxmlformats.org/officeDocument/2006/relationships/notesSlide" Target="/ppt/notesSlides/notesSlide12.xml" Id="R1aaf39895e7942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cb764c5894d46" /><Relationship Type="http://schemas.openxmlformats.org/officeDocument/2006/relationships/notesSlide" Target="/ppt/notesSlides/notesSlide13.xml" Id="R59f50f75eff3446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d734f04e54d78" /><Relationship Type="http://schemas.openxmlformats.org/officeDocument/2006/relationships/notesSlide" Target="/ppt/notesSlides/notesSlide14.xml" Id="Rab413ab39ff240e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4f74c0e944ddc" /><Relationship Type="http://schemas.openxmlformats.org/officeDocument/2006/relationships/notesSlide" Target="/ppt/notesSlides/notesSlide15.xml" Id="Rb7ffa13e72d14f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B8261E-23B2-4A96-887D-8EE6AE3B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28D04F-6EB2-4E38-94C9-AE50B232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0"/>
            <a:ext cx="371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AAB38-C207-4CDC-84E6-85AE5A3F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14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55790-AD5A-41E9-BDFA-0A21C0F6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85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7D98"/>
                </a:solidFill>
              </a:defRPr>
            </a:pPr>
            <a:r>
              <a:rPr sz="1125" b="1">
                <a:solidFill>
                  <a:srgbClr val="627D98"/>
                </a:solidFill>
              </a:rPr>
              <a:t>AHA Scientific Statement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FA3C5-B64E-4246-BB12-E7E8BA3B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高齡心衰竭照護最佳化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CF3DD8-5B2B-43D2-9403-B492F776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Strategies for Optimizing Heart Failure Care in the Older Adult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931C5-10D0-4F3A-9C93-C03B1609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685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83488-ABDF-4654-B5D8-665C99CF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6EF1"/>
                </a:solidFill>
              </a:defRPr>
            </a:pPr>
            <a:r>
              <a:rPr sz="975" b="1">
                <a:solidFill>
                  <a:srgbClr val="276EF1"/>
                </a:solidFill>
              </a:rPr>
              <a:t>AHA 2026 SCIENTIFIC STATEMENT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BE5C72-1E1C-47E9-9F7F-3E2A9A2E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GDMT  |  裝置治療  |  衰弱與共病  |  共同決策  |  緩和醫療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EAFDFC-7558-47A0-A9F9-C65A3685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01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7D98"/>
                </a:solidFill>
              </a:defRPr>
            </a:pPr>
            <a:r>
              <a:rPr sz="1500" b="0">
                <a:solidFill>
                  <a:srgbClr val="627D98"/>
                </a:solidFill>
              </a:rPr>
              <a:t>台灣醫師閱讀版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2091AF-039A-42A5-9FB0-F23BFBEA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5255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FFFFFF"/>
                </a:solidFill>
              </a:defRPr>
            </a:pPr>
            <a:r>
              <a:rPr sz="6150" b="1">
                <a:solidFill>
                  <a:srgbClr val="FFFFFF"/>
                </a:solidFill>
              </a:rPr>
              <a:t>65+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C62A8-40EF-44EC-938B-8D4AAC2B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289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9C8F7"/>
                </a:solidFill>
              </a:defRPr>
            </a:pPr>
            <a:r>
              <a:rPr sz="1275" b="1">
                <a:solidFill>
                  <a:srgbClr val="A9C8F7"/>
                </a:solidFill>
              </a:rPr>
              <a:t>HEART FAILURE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4E72DD-C209-4F53-BA94-5C6F9371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52800"/>
            <a:ext cx="190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8E8E70-FA13-40B9-83BE-F23B99B3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38550"/>
            <a:ext cx="2238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evidence-driven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patient-centered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BD0481-4BB7-4F8D-B0A4-A11B274D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261A03-430A-4F3A-9F08-62A37B91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8C6CF8-A215-479F-AC16-CD31E1A9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01 / 15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3B63B-3BB8-4EC4-8351-48CFA424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4220024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A5225A-1418-461B-BE23-5DBF3AF9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A4F8F-09DA-40CC-BD73-FB74950E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Why it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3807EC-C1FF-4AE4-A788-C6F630AF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高齡心衰竭是最大照護負擔之一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94A1F-45D8-4D58-8A24-AD667B38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67567-324A-4104-93E5-69482331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D010B-6593-4A5E-ABE7-46521D41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4403DE-AE0A-48A5-AFB6-C5C93AC6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7CB91-EDA7-4D4F-8301-A3B82DE5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3B7F98-6147-432D-886A-C1CE2748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心衰竭盛行率隨年齡上升，住院與再住院主要集中在 65 歲以上族群。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D7A06-8D26-405F-8111-348D6CB7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C683E-6949-48C0-96CA-926D0970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675C9-EE00-46DA-86E9-CAE2E812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269D6-3D59-4E22-A543-9736B4E4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高齡病人常同時有衰弱、認知退化、腎功能下降、營養不良與社會孤立。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D93C3A-88E0-4484-ACD6-0F0B9644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0E0539-CA60-415C-9F45-CB5D81EE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CC480B-FFBF-4613-866A-C3E22513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4C3176-321A-4106-B743-8352FDDE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臨床目標不只降低死亡率，也包含維持功能、減少住院、提升生活品質。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670264-47A9-4D96-BBF3-E7AF2134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A14F2D-84CC-4D40-8514-ACE43F4E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9FB989-42B6-4C15-8679-08538B9A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實務重點：不要只問「可不可以用 GDMT」，更要問「如何讓這位病人能安全且持續地用」。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8112DB-E66E-409D-A4EA-FBF9547D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8CEF45-2BFA-49B4-9864-24ADE58E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DB4C9A-12A5-417E-9525-59028BA0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02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9FDAA3-AE0F-4B8B-A7C8-6D699CF9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8983466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D07F5C-5E02-4571-AC93-83A1FBC8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BA2FA-AD16-4FD9-933C-E9A1EEA7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Evidence 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2DBD4-8CEF-4C73-B5D3-95408E73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GDMT：高齡不是自動排除條件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C4B1A-BED2-4F25-A23C-184B4DC0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73A89-51CC-4045-842E-C7222F29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1F042-E092-42C2-BA4C-720B1FDE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C0E96-413E-4F6E-A5B0-032970EC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33A0B6-378C-4A6D-9782-FB201974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82D805-4D71-434A-A484-1E479A91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HFrEF 四大藥物：ARNI 或 ACEi/ARB、實證 beta blocker、MRA、SGLT2 inhibitor。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80621F-0B86-4125-9F95-6FEDF064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42F9A-A516-4A65-A280-B5CC57A2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351B62-3C2E-45DB-99CE-5C646590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3BB4B0-054D-4BE8-B103-A7BBA737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重要試驗次分析顯示，ARNI、SGLT2 inhibitor、MRA 與 beta blocker 的治療效果在年齡分層大致一致。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C84126-C7FB-4F1B-AF2A-4438E61E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CAA229-1513-4137-B208-D34A34D7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764F8C-BD9A-468B-BE94-005B5EEA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9A191E-1C67-4140-95CD-F4FA6583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HFmrEF/HFpEF：SGLT2 inhibitor、MRA、利尿劑與特定情境下的 RAAS 相關治療，仍需依表現型與耐受性選擇。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B933E-48FA-4AC4-ACCF-C585EC84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DDEA1C-A09F-41B5-901F-9DDE6C74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24307F-E8D9-497F-BAE0-9617DEC7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高齡病人事件率高，絕對效益可能很重要；但副作用監測要更細。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8ADD3D-8972-46A9-A786-6A60E970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D08CB6-4A25-4E12-9F83-F10FF04F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734C01-BE18-4191-A75B-256AEA6F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03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585218-52F0-4ECB-9E33-0B1D68F3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7546156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5D05EF-FCE0-4AF1-97E8-7A0565B0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0514D-5ECD-4E60-B579-75F12566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Therapeutic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D7297-2881-4AEF-94DD-F76A28CA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真正的問題：有效治療常被低度使用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7DD78-C922-4528-8CC2-A253B545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93A62-3331-4D5B-81A2-7A1DF036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C83DB-FB2E-4944-BE93-5169E730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6F871-BAD9-4E9A-B7C6-5DD1282F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C72BE-2D93-4EBD-B5CE-62A4A9A0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C0DD7-80D4-4A52-9628-29E8DBF1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登錄資料顯示，年齡越高，eBB、MRA、ARNI 或 RAASi 使用與劑量最佳化越少。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F2B38F-BBF5-4B88-96BC-70C41C09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589B4-A2A3-4553-994A-0368464A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33116-45F5-4FB9-8680-5BCA56E2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96B2BF-6C14-49AA-9A6D-65B89377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女性高齡病人可能面臨更明顯的 GDMT 使用落差。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CFCC2F-6353-456F-A74C-FFF9E5DB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314039-930C-4609-A7FA-AC9CF0A4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1E9728-11C2-4EBB-83CD-F314D45E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D6FA8C-A8C3-43B3-8BAD-3ECD9CAC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常見原因：低血壓、腎功能、共病、多重用藥、費用、追蹤不易與臨床慣性。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454282-F034-4BA1-BADD-8AB1D875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CC11E4-3DB1-4D7E-B85A-D5DA0D46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607A9-CD23-4DE4-9293-9A92FD67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處方策略：低劑量啟動、早期追蹤、主動處理副作用，而不是直接放棄治療。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04E876-FB7B-4F92-9198-F3DA9770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8CB997-2246-4AE6-BDDC-592C717F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1FAA34-4BFC-454E-9189-CEFB5FF6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04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59B86D-D408-474E-B351-648C845F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5379289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AB11BA-7495-477D-ADEB-C49E930F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DAB2A-722A-4BE2-A846-B4994990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Devices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2345D-2C60-43BA-A163-78627E0B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CIED：ICD 與 CRT 要分開思考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10100-A166-491B-ABDC-B6E04B64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2931B-1209-439C-9C8C-BA16F855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06138-8CD2-40F7-A280-645A5906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997C37-03EE-4279-8DFE-DA540339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94F0B5-4A87-45EB-9D13-68B6B57E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2DEED-640C-4AC0-92B9-49DB92FD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ICD：初級預防在高齡與複雜共病族群的淨效益較不確定，需考量有意義存活超過 1 年、猝死風險與病人偏好。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60D12B-B0AD-4521-9690-AFAB5382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421EE-A0D2-4CF2-ADFC-1781AE35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DA38A-24EA-43FA-A1AC-FF727E9C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EF3E8C-981A-40BD-8320-035E2EE8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CRT：可改善症狀、生活品質、住院與存活；不應只因年齡而排除。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C2AA58-3D02-4A9C-B7BE-B27F451B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0F928-EFB9-46EF-9FE0-D5A94459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1D355-161D-4B3F-A053-8F60C2D1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CE73E-FE56-4586-8C22-75D8758F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裝置決策要納入併發症、回診負擔、電擊經驗、末期照護與去活化討論。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1E9D43-F67E-49D1-A9E8-13EE2F3E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92606-3508-4E0F-94AC-249CD73B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C3430-FBCC-4513-BC41-F4148E5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問法轉換：不是「幾歲還能裝」，而是「裝置對他的疾病歷程與在意的結果有沒有幫助」。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92CC2-2D76-4A23-98CF-9FA678CE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20D3D-2841-4752-9FDD-5C0C83D4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501ACE-0D40-40D2-9E6D-73320448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05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9C0FAE-DA4A-4A84-B897-4C7E72C6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9399750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7BDF54-7A44-4373-9F7F-760CBB93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DCE363-3440-4BC3-90A4-B1F9EB6F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Domain Management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99594-AA72-430F-AB9C-6D89BC7C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四大 domain：把心衰竭照護拉回整個人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9F5EE0-2778-43C1-B337-619F9E52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3FAFE-034E-48AC-9201-DE1D731C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27D98"/>
                </a:solidFill>
              </a:defRPr>
            </a:pPr>
            <a:r>
              <a:rPr sz="1200" b="1">
                <a:solidFill>
                  <a:srgbClr val="627D98"/>
                </a:solidFill>
              </a:rPr>
              <a:t>原始圖表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f4e35f47b8420c"/>
          <a:stretch xmlns:a="http://schemas.openxmlformats.org/drawingml/2006/main"/>
        </p:blipFill>
        <p:spPr>
          <a:xfrm xmlns:a="http://schemas.openxmlformats.org/drawingml/2006/main">
            <a:off x="1126269" y="2057400"/>
            <a:ext cx="5043612" cy="3790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3A4AB-0225-4FD5-A0E9-36241226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90700"/>
            <a:ext cx="190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7B059D-11C6-4D3C-907B-AD20AD0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526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27D98"/>
                </a:solidFill>
              </a:defRPr>
            </a:pPr>
            <a:r>
              <a:rPr sz="1200" b="1">
                <a:solidFill>
                  <a:srgbClr val="627D98"/>
                </a:solidFill>
              </a:rPr>
              <a:t>臨床解讀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DD63F-C10B-44CD-91D6-E4259EED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CE31C0-8B5B-4E69-97BF-A20AC73C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336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Medical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0F38A1-D5A0-4B31-8755-C56089A4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57450"/>
            <a:ext cx="3600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營養、鐵缺乏、腎功能、多重用藥、藥物交互作用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417A2-C10C-47F4-B03A-9A07CC89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289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5C848C-0A6C-47DC-9C43-E32EAF06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0289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Mind and emotion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00704C-6558-47B3-AF08-932AC608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3600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認知功能、憂鬱、服藥理解、家屬或照顧者協助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9E8A80-15F6-41EF-9AD7-7C9E2DEF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2430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595CAD-B903-4D9E-AAF0-53086E90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243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Physical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8139C7-4863-4714-8813-527199A5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48150"/>
            <a:ext cx="3600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衰弱、跌倒、姿勢性低血壓、肌力、活動能力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3043C5-5EB8-4A72-891A-4C855166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A5AEFF-9853-4DE5-A7AC-DDBD8212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196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Social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CFFF74-97DB-4ECE-BFF5-062E2F4C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43500"/>
            <a:ext cx="3600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交通、費用、社會孤立、健康識能、視訊照護可近性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6AEF97-0B7D-47A2-A15D-93493747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1980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27D98"/>
                </a:solidFill>
              </a:defRPr>
            </a:pPr>
            <a:r>
              <a:rPr sz="825" b="0">
                <a:solidFill>
                  <a:srgbClr val="627D98"/>
                </a:solidFill>
              </a:rPr>
              <a:t>Figure 1. Lewsey et al., Circulation 2026. 原圖保留英文標示以維持原始內容。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E8E965-D1D8-4968-9F7D-4DB9D691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3BBD2E-6345-4D43-8925-37E69C15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CF2D7B-DAB2-47AA-AB00-B08D802B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06 / 15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50E55A-492C-41DB-8D6D-6E45898A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9535245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7C0F16-F66E-4314-8D49-A49DC21B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DB6C0-1679-47D7-9F4E-90EC95F6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Prescribing in older adults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3F369D-E69C-4BD3-B3EA-A10D2926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多重用藥與營養：先找可修正因子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E4AF4-C886-423E-95D8-F3401D70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D3034-7EF1-4618-97A2-A5365E0F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E35AE-0E35-4D7F-BC58-D2EB19F4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0755E-3351-47D6-935D-9F27ED42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E3E5F8-0256-4A3E-8841-805B455D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F60D7-6EAA-49FB-9B87-E1DF30A1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每次調整 GDMT 前後，重新核對藥物、血壓、體重、eGFR、鉀離子與症狀。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2E7DE-2277-4990-8D9B-2448CFB0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11DC92-7A40-4240-9F30-93502B77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1A97E-68F7-437B-A0A0-4DF0BD98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0BF58-5BC7-48AE-B1E9-75B559F4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避免同時忽略低營養、鐵缺乏、利尿劑過量、NSAID、alpha blocker 等影響耐受性的因素。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576CA6-7329-4DEB-8E0D-CB574E84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3E3F76-BF70-4ECE-AB08-B2036D0C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5A7A32-56CA-4997-A41D-8E383191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9244AD-8201-4F89-B80C-CB90BCDE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deprescribing 不是少治療，而是移除低價值或高風險藥物，讓高價值治療留下來。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8D38FB-CAA2-4730-9EBB-D908A092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16F561-6962-4BF5-B1F8-103E9CAB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FC3917-FC62-4847-A630-90BC637B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高齡處方的核心：不是單純加藥或減藥，而是提高整體 treatment fit。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6BBA3B-B082-4646-BDF5-25A0EC18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A4CC7-E019-4789-9BEE-41C25B10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46E58D-F999-4AF8-99AC-2911C4EE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07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9FDCED-0002-4405-B488-C67635FA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3091356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219C9F-DFB2-40FF-8344-B6729341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31624-6467-4329-8C07-610A0696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Barriers and facilitators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8B035-633A-4DF8-9DA9-FA08495E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GDMT 卡住時：用多層次障礙拆解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C1D37-1BC6-4293-A9B6-F6EA0723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219e3a9c7b41e3"/>
          <a:stretch xmlns:a="http://schemas.openxmlformats.org/drawingml/2006/main"/>
        </p:blipFill>
        <p:spPr>
          <a:xfrm xmlns:a="http://schemas.openxmlformats.org/drawingml/2006/main">
            <a:off x="1696403" y="1657350"/>
            <a:ext cx="3789045" cy="4210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0F7119-2A02-4E0B-B802-8A173973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907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用原圖快速定位問題，再回到可介入層級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4473A2-58E1-4BE1-AA21-C680C64E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81250"/>
            <a:ext cx="95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4FC8A6-2A26-4AEA-BB8A-DFAE56BF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81250"/>
            <a:ext cx="323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病人層級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E5503-1369-43F9-B118-08883042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8605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症狀負擔、跌倒擔心、健康識能、藥費、交通、照顧者缺乏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CD2244-283B-4DE1-A7FB-6868D61C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86125"/>
            <a:ext cx="95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1868A-FC1F-41B5-9915-FB0683A5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86125"/>
            <a:ext cx="323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醫療團隊層級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95F592-AB25-4F75-B3E4-411D285A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909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臨床慣性、副作用擔心、跨科訊息不一致、追蹤間隔太長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0BAD0D-290B-440B-9F66-DC5E6B04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91000"/>
            <a:ext cx="95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71B157-8455-4317-B263-D52258A7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0"/>
            <a:ext cx="323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系統層級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9401E5-69AA-4CA7-955B-98265BEA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9580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給付限制、門診時間不足、藥師與護理資源不足、轉銜照護斷裂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A1A8ED-E726-4D58-99DF-E4B74123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353050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5ED55-D43A-4558-BE58-14822521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05450"/>
            <a:ext cx="3676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把「病人不配合」改寫成「哪一層障礙還沒被解決」。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F34913-37CE-4D78-8424-AF8B1203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27D98"/>
                </a:solidFill>
              </a:defRPr>
            </a:pPr>
            <a:r>
              <a:rPr sz="825" b="0">
                <a:solidFill>
                  <a:srgbClr val="627D98"/>
                </a:solidFill>
              </a:rPr>
              <a:t>Figure 2. Lewsey et al., Circulation 2026. 原圖保留英文標示以維持原始內容。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E270CB-61A7-4F43-9B3C-7517CE65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52255-7837-4CD1-84B0-11986A9D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F8E212-0CF1-4A96-B6FE-96368A36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08 / 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C31463-305E-44BE-94DE-A3A85F2A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21313583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D296DD-529D-41EB-B7C5-57405CB5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666BE-8ED9-4375-868A-FF80F677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SDM and ACP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ECF18-0233-4258-85AB-8DCD0767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Shared decision-making：目標會變，必須反覆確認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D523E-58FB-456A-8574-3AF709BC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7732B-9387-4679-AFD1-22EFB1D6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82FE7-362F-48D4-AC5B-E2118B14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2E039-DCF0-45EB-8C40-3243BEFE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FE487B-B3E2-4CA8-AC62-F1A45AE4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13D6ED-12DC-4033-9666-95CFEACB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先釐清 what matters most：壽命、功能、症狀、居家生活、避免住院、避免侵入性治療。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E0C277-8B43-4439-BBD1-EC3E46E7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6DD06-1436-47B0-BBE3-1B4028DB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2BD06-FD65-413E-8196-1230C4C5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01549B-E94E-4AF3-AAA6-AF5DDE99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討論治療效益時，也要說明負擔：抽血、回診、輸注、裝置併發症、住院天數、照顧者壓力。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ADBB9-6CE3-4DFF-9E50-DFD5785A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594289-0075-4862-8865-AA6A5768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7AFA83-7072-4FCA-96C3-8FE26E7E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23EEB-6EDF-4657-A708-683D8C66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ACP 不是只在末期才談；晚期治療、LVAD、ICD 去活化與緩和醫療都需要預先對話。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2AE56-FC50-4C39-B636-CBBCD9E9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C97A5A-6699-4790-9865-50922498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757998-584E-4463-BB6B-E6443756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SDM 不是把決定丟給病人，而是用醫療證據幫病人做符合價值的選擇。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27BA95-9F0C-4347-97BC-B526E41E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CE8E54-3E34-48FE-B1CE-0CB123A9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329CA8-351D-4C66-B8A7-D48332CF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09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08718B-327B-4533-B1B7-E6E0D554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604771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339D44-079A-41CF-AE70-6E7C4DCF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2AF75-23E4-462E-8625-76974893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81A50-18CB-4C8C-91FC-4D6E2FBD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能提高 GDMT uptake 的做法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4F6508-0947-432D-A6B4-DEC3BE1E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76BD8-0AA7-4B09-8AC8-B47D6048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4097B-FB39-4616-899D-5092A811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B6BC5-BAD0-46F8-82BE-8D1679D6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8382D-9AAE-45C8-A429-54B2699F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B436DE-C2A2-4ABF-B5B3-09BF2D0D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費用協助或給付改善：降低藥費可提升可近性，特別是固定收入的高齡族群。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663D3-9817-4D09-BC5D-F422C9A3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E5014-0168-47C7-BAC6-F5AA2688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71BF6-CB15-4E23-8DD6-A56A3210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256CB5-6392-489C-85AD-4BD3C3EA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電子決策支持、病人啟動工具與藥物 titration protocol：減少臨床慣性。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99005-E633-410A-A54E-6168FB48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6D84E3-C2D4-43F7-89E1-AAA9DE09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459C51-3588-429F-8F80-CC8B0066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B74BFD-A70F-4BEC-9DCD-320C7712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自我照護教育、遠距監測、出院轉銜照護、跨專業團隊：改善追蹤與持續性。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7EB108-6308-4B6A-B9F3-A7C3659C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AEA4F8-F9F6-4D22-A386-46A385B3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5D421-F645-4168-9104-16EDCE27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有些 intervention 改善處方率，有些改善照護銜接；不要期待單一工具解決所有問題。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0BD7A3-7E6E-465E-A9FC-EE0E3326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DEB3D9-2EE9-4C5B-ABF9-B9FAD9F5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5910D-E2D3-4B61-994F-E3BFDC73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10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F9FCA6-4E02-4522-89B7-B053B96D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860629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DE6580-9397-449B-BB9F-AA3C6256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FAC80-AF51-4D8F-8876-18D0F461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Palliative care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DB3BE-DD68-48B6-86DD-ED29BB83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緩和醫療：不是放棄治療，是減少不必要痛苦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B6653-B73E-41B5-82CA-FF0DCB8F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C37F8E-AFC2-49B6-845E-58C9A4E9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FE1A91-C1DE-4BE8-99E5-02257E53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7F5458-19C2-4CE6-A216-8EDCF5FF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DA49A-DBC5-4240-BF9E-BE7649F6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0573EE-0B07-4E96-9AF4-C73DDAF2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高齡晚期心衰竭常見 refractory symptoms、反覆住院、GDMT 無法耐受與照顧負擔升高。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1D7DD3-E1E5-44DF-9A0E-53B9827B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2AEC2E-F0D0-422B-8472-FF630947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B72CB-7599-4FA5-BD58-940D0F95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79AC1F-315D-40C5-BA0F-C31FF2AE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緩和醫療可協助症狀控制、目標釐清、家庭溝通、ACP 與治療負擔評估。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0B4711-F4BD-4D96-A89D-4EA64B6C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E94C57-D161-40C2-B076-09449193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063C8B-B4C4-49BD-A8BF-525567C1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0ABFD1-26EC-462D-B5A7-018EDD6D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hospice 與 palliative care 不等同；早期轉介可與疾病治療並行。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F17AB9-B898-4A5C-8665-A6388E30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CACA3E-0AE8-45B1-BA2B-ECB8CB91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5BFBBB-BE9B-4670-B504-B89AC0CC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對 refractory HF：早期心衰竭專科與緩和醫療共同照護，通常比最後一刻才會診更有價值。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BE5B9-04EF-45CB-8C2C-825E9008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7AD34C-2000-42C4-B4A2-6B5C1446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037DB1-0D18-4EDA-9BB8-5158E5B7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11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00AE2D-D4E6-4CB1-B739-40610DB2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8478642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001F17-A9DD-4F3C-992F-C3A7450E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47D21-F8E8-4CF2-B13A-78BB1DC7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Clinic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177A2-5D13-4C34-87DC-1FD11688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門診可用的高齡 HF 五步驟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A194E3-1F89-4C7D-B2A3-ABD54577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8D4A9-926F-41FD-937C-B7C6519D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05100"/>
            <a:ext cx="9906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46FCBF-4FEC-424B-BF28-55DBDD6B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70485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0A044-2280-401D-8334-1D91F454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62225"/>
            <a:ext cx="70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74B6E9-E622-4404-8448-B13FFAF5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定義 HF 類型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9FBAF-6034-4E22-826F-24C6ECFA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1955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EF 類型、症狀、ATTR-CM 可能性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A4C0F9-706E-4728-AED5-7DA57569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81250"/>
            <a:ext cx="70485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F8FB8-7908-4E3E-B25D-A7C335D3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62225"/>
            <a:ext cx="70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7C5437-3C36-41CE-9C9C-6DACF06B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909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啟動高價值治療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103523-D34F-4CD6-B2C2-F8607448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1955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依證據與耐受性安排 GDMT 或裝置評估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6C9E7-8F8E-4EA6-AEB7-44ACCAB1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81250"/>
            <a:ext cx="70485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C7417-CD3C-45B2-A542-212952EC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62225"/>
            <a:ext cx="70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0FEEA1-4610-47EF-A52A-6AC103B9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3909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掃描 domain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231039-6E94-4882-A552-A39CA4F6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1955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營養、認知、衰弱、跌倒、社會支持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1426BE-10B2-4CC3-A31A-5298022E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70485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90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E23ACE-1EA9-45BE-A84F-9DB4B647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62225"/>
            <a:ext cx="70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2C190F-D291-4A27-8263-C756BF18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3909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拆解障礙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DA44F0-FAC1-4562-AE6A-A54C710F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1955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費用、追蹤、藥物交互作用、照顧者與交通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2BF20A-7175-4185-AD37-AD556C3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81250"/>
            <a:ext cx="70485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6D95B-5E2D-4286-B017-5CCC3096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62225"/>
            <a:ext cx="70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EC4CF-FF1F-408C-8804-70BA7B8E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909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重談目標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C59F65-E50C-4F20-BA2C-0A215F27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1955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每次病程轉折後更新 SDM 與 ACP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F1CF76-1648-442C-AC83-30709C9D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34000"/>
            <a:ext cx="971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27D98"/>
                </a:solidFill>
              </a:defRPr>
            </a:pPr>
            <a:r>
              <a:rPr sz="1650" b="0">
                <a:solidFill>
                  <a:srgbClr val="627D98"/>
                </a:solidFill>
              </a:rPr>
              <a:t>把五個步驟嵌進每次病程轉折與出院後追蹤。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5FE7C6-8905-40C3-BFB0-84A5DC95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9AA889-74CC-4FB2-BD3E-6A34AB56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500BF5-2B4E-4F2C-8C95-DBA742BD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12 /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F1E51F-D2C9-45D2-ACBE-384CB196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6301097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B0AC44-E4FC-4D6A-A633-F87CCCB5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91484-F32F-4CC9-850A-CD7CACC8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Taiwan practice 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35D39B-EB5A-4EA0-9438-8DF82AFA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台灣臨床情境的落地提醒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771C8-9A3A-4E87-A483-A2FC6DB3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FA4A44-6CA5-4E1A-9259-B4CD907E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9738B1-C9FA-41E5-8339-5853C209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32FF06-085F-4AE4-BA9B-617C211C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9277D-CA84-4547-9276-EEAC75BA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8F5B5-7DCF-4F4B-80D6-24F54343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把「藥物加不上去」記錄成具體原因：血壓、腎功能、鉀離子、症狀、費用、回診或照顧支持。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233DD5-9E07-4DB6-9D3C-9955BF52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20079-E86B-4052-8632-7A757C2B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844C1-46C8-4230-943A-52E4DBD9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811D21-E1E9-483C-8E1E-D1D64EAD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出院後 7 到 14 天內安排追蹤，優先檢視利尿劑、腎功能、電解質與四大藥物缺口。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29FE5-BCD7-492C-B462-441A135C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698DE9-8CAC-40F3-83C9-5AFF0F60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FA5973-C7E0-4C95-B4EE-1CA7E130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BCB46D-140C-473C-B001-C88B7145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善用護理師、藥師、營養師、復健與居家照護資源，避免心衰竭治療只剩單一醫師處方。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82452D-8FF6-4ACA-B1E0-81402B76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64816F-4913-40E2-BC55-60F08BE7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C5D5D6-2DEC-4A31-80B9-56F6B93B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每次門診留下下一步：要加哪一類藥、何時抽血、何時回診、誰負責追蹤。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B44480-9420-4A64-A998-71942BC1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CF8031-D700-41E7-8DBF-4748A312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FF3B3-9691-4A2B-A426-AA6A0CB5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13 /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88AF1D-C89D-461C-A9B3-C6D54712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9177084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8B2EEB-6EBC-4824-ACBA-E6724D26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98E33-4C62-422F-8272-A8FBAD09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Take-home messages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34176-8BE0-42FF-B200-4EE2E825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醫師版重點整理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7B0491-5A73-4448-B766-987F26B0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EA26D-1FF5-4719-AE91-EC172AEA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714500"/>
            <a:ext cx="114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F8DC3-B424-4967-8C66-6408D2A4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1450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E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5320A9-8927-4BAF-91C2-48E31399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A4B60-37A7-4C6E-9A9E-5F9C0E71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8563C-BADD-4F7E-BEEC-F1DB520C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526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高齡不是 GDMT 或 CRT 的自動排除條件，但需要更精細的安全監測與目標討論。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A4469-06C0-4E06-BB2B-D3AA729D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907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0EE37-55E5-46EE-9CF4-AA6AFA4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9D9A"/>
                </a:solidFill>
              </a:defRPr>
            </a:pPr>
            <a:r>
              <a:rPr sz="1200" b="1">
                <a:solidFill>
                  <a:srgbClr val="0F9D9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DEF61-F56D-48B1-86FA-31E80EFE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39D43-118F-4444-83ED-AD5114E2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ICD 初級預防在高齡複雜共病中要更重視淨效益、預期存活與病人偏好。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537D2-4CE9-4FA8-AF9A-22E20554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7182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751E25-84AA-483C-9392-8798AB35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4F3A"/>
                </a:solidFill>
              </a:defRPr>
            </a:pPr>
            <a:r>
              <a:rPr sz="1200" b="1">
                <a:solidFill>
                  <a:srgbClr val="D64F3A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4DAE0A-B3D8-46D7-9EFC-283D0FD1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3FF26-F395-4186-96CD-C068B3CF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1470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高齡心衰竭照護要同時處理 medical、mind、physical、social domains。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1B8D03-FE15-4767-93DF-84EF03B6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952875"/>
            <a:ext cx="878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D002BE-CA6F-4A52-9266-C7AF8AAF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76EF1"/>
                </a:solidFill>
              </a:defRPr>
            </a:pPr>
            <a:r>
              <a:rPr sz="1200" b="1">
                <a:solidFill>
                  <a:srgbClr val="276EF1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17D71-55C8-402D-9040-CD63B44F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19575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C2FF7E-6085-4C7C-80D1-73056B9F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95750"/>
            <a:ext cx="8782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B53"/>
                </a:solidFill>
              </a:defRPr>
            </a:pPr>
            <a:r>
              <a:rPr sz="1725" b="0">
                <a:solidFill>
                  <a:srgbClr val="243B53"/>
                </a:solidFill>
              </a:rPr>
              <a:t>SDM、ACP 與緩和醫療應早期、反覆、以病人價值為核心。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037F0B-0784-4F60-9D88-09AC49CF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62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146C57-F46E-4008-A7A0-1C39D86C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9C8F7"/>
                </a:solidFill>
              </a:defRPr>
            </a:pPr>
            <a:r>
              <a:rPr sz="825" b="1">
                <a:solidFill>
                  <a:srgbClr val="A9C8F7"/>
                </a:solidFill>
              </a:rPr>
              <a:t>CLINICAL TAKEAWAY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5DE8E6-DC72-49E7-9832-56571E0A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899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最佳化不是追求每個人都滿劑量，而是讓每位病人得到最符合證據與目標的照護組合。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62196F-6049-4D5B-ACF6-A0B10179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2BDE10-811D-4362-B3F9-FB4DF6A7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217EFF-BB55-44C3-A8C1-44D5A84C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14 / 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C6E1B5-605F-4FE5-914D-75908FBB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1638405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DB9FA6-FE91-4D1B-B329-940EA3EB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6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8AA834-9756-4969-BAB0-1969E776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7D98"/>
                </a:solidFill>
              </a:defRPr>
            </a:pPr>
            <a:r>
              <a:rPr sz="975" b="1">
                <a:solidFill>
                  <a:srgbClr val="627D98"/>
                </a:solidFill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06E8F-CB70-4C15-A92B-A221E4C1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文獻來源與延伸閱讀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4F3DC-1BFB-4972-A1E4-D8A1C7FC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1C7E7-B546-4659-A34C-8EF25371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6EF1"/>
                </a:solidFill>
              </a:defRPr>
            </a:pPr>
            <a:r>
              <a:rPr sz="1575" b="1">
                <a:solidFill>
                  <a:srgbClr val="276EF1"/>
                </a:solidFill>
              </a:rPr>
              <a:t>1.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52509-B158-487D-9A08-C3D1BCB3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3B53"/>
                </a:solidFill>
              </a:defRPr>
            </a:pPr>
            <a:r>
              <a:rPr sz="1575" b="0">
                <a:solidFill>
                  <a:srgbClr val="243B53"/>
                </a:solidFill>
              </a:rPr>
              <a:t>Lewsey SC, Martyn T, Blumer V, et al. Strategies for Optimizing Heart Failure Care in the Older Adult: A Scientific Statement From the American Heart Association. Circulation. 2026;153:e00-e00.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5D676-CC2C-45F3-88BD-EF8B5A47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6EF1"/>
                </a:solidFill>
              </a:defRPr>
            </a:pPr>
            <a:r>
              <a:rPr sz="1575" b="1">
                <a:solidFill>
                  <a:srgbClr val="276EF1"/>
                </a:solidFill>
              </a:rPr>
              <a:t>2.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CD7117-0FB1-4C13-A6D8-A01FDAD3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09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3B53"/>
                </a:solidFill>
              </a:defRPr>
            </a:pPr>
            <a:r>
              <a:rPr sz="1575" b="0">
                <a:solidFill>
                  <a:srgbClr val="243B53"/>
                </a:solidFill>
              </a:rPr>
              <a:t>DOI: 10.1161/CIR.0000000000001437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D8C1F-0F44-4584-B10B-AB7C871F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6EF1"/>
                </a:solidFill>
              </a:defRPr>
            </a:pPr>
            <a:r>
              <a:rPr sz="1575" b="1">
                <a:solidFill>
                  <a:srgbClr val="276EF1"/>
                </a:solidFill>
              </a:rPr>
              <a:t>3.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41541-85BC-49B8-BD83-F9C71733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71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3B53"/>
                </a:solidFill>
              </a:defRPr>
            </a:pPr>
            <a:r>
              <a:rPr sz="1575" b="0">
                <a:solidFill>
                  <a:srgbClr val="243B53"/>
                </a:solidFill>
              </a:rPr>
              <a:t>AHA Journals: https://www.ahajournals.org/doi/10.1161/CIR.0000000000001437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632D12-EBF9-437B-ABBF-7A29C6A0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6EF1"/>
                </a:solidFill>
              </a:defRPr>
            </a:pPr>
            <a:r>
              <a:rPr sz="1575" b="1">
                <a:solidFill>
                  <a:srgbClr val="276EF1"/>
                </a:solidFill>
              </a:rPr>
              <a:t>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307C7-33CB-4FC6-990E-8D83406D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33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3B53"/>
                </a:solidFill>
              </a:defRPr>
            </a:pPr>
            <a:r>
              <a:rPr sz="1575" b="0">
                <a:solidFill>
                  <a:srgbClr val="243B53"/>
                </a:solidFill>
              </a:rPr>
              <a:t>2022 AHA/ACC/HFSA Guideline for the Management of Heart Failure. DOI: 10.1161/CIR.0000000000001063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756B54-E85B-4CC5-B985-26FC67EE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81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D177EA-86DF-4E51-8099-50E82872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81650"/>
            <a:ext cx="935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臨床使用提醒：本投影片為文獻閱讀整理，不能取代完整原文、藥品仿單、院內規範或個別病人評估。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C0BDDA-FD2E-4541-8A48-77329B05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15E79F-0EE3-4848-891D-3FBC3088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7524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7D98"/>
                </a:solidFill>
              </a:defRPr>
            </a:pPr>
            <a:r>
              <a:rPr sz="750" b="0">
                <a:solidFill>
                  <a:srgbClr val="627D98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E45655-C0E9-411B-85FE-6BFCA969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770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D98"/>
                </a:solidFill>
              </a:defRPr>
            </a:pPr>
            <a:r>
              <a:rPr sz="750" b="1">
                <a:solidFill>
                  <a:srgbClr val="627D98"/>
                </a:solidFill>
              </a:rPr>
              <a:t>15 / 15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633567-D7ED-4FD5-B4DA-1EC244C0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191250"/>
            <a:ext cx="2381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829AB1"/>
                </a:solidFill>
              </a:defRPr>
            </a:pPr>
            <a:r>
              <a:rPr sz="675" b="1">
                <a:solidFill>
                  <a:srgbClr val="829AB1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8354316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2026-06-26T06:14:39.5750000Z</dcterms:created>
  <dcterms:modified xsi:type="dcterms:W3CDTF">2026-06-26T06:14:39.5750000Z</dcterms:modified>
</coreProperties>
</file>